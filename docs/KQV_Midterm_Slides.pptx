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Red Hat Text" panose="02010503040201060303" pitchFamily="34" charset="0"/>
      <p:regular r:id="rId16"/>
      <p:bold r:id="rId17"/>
    </p:embeddedFont>
    <p:embeddedFont>
      <p:font typeface="Red Hat Display" panose="02010303040201060303"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Hi, we're team KQV. Our project asks a simple question: if two posts say the same thing, but one mentions a woman or a disabled person, does a content moderator treat them differently — and do fine-tuning and prompting make that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Here is the whole project in one example. A moderator sees a harmless post that mentions a deaf cousin. Swap out the disability and nothing about the message changes, so ideally the toxicity score shouldn't change either. Prior work shows classifiers often do score the disability version as more toxic. But there is a catch: models also react to completely irrelevant wording changes, like "texting" to "messaging". So a score change after the swap is only evidence of bias if it is bigger than what a neutral rewording of the same size does. That comparison is the core of our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Prior work agrees the problem is real: classifiers flag benign comments just for containing identity terms — Dixon and Garg showed this for terms like "gay", and Hutchinson and Venkit showed disability words like "blind" raise toxicity on their own. But these tests swap one word, mostly for gender or race, and they treat any score change as bias. Yang and colleagues showed why that's risky: on a medical QA benchmark, swapping a patient's gender flipped 14.9% of answers — but a plain paraphrase flipped 14.1%. Statistically the same. So our gap is: multi-word swaps, disability alongside gender, and a rewording baseline, applied to content moderation.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Here's the metric. For every post we get the model's probability of toxic versus non-toxic three ways: original, the group swap, and five neutral rewordings. Delta is how far the swap moves the distribution, measured with Jensen-Shannon divergence, minus how far the rewordings move it on average. A model counts as biased only if delta is consistently positive across posts — a one-sided paired t-test — and we compare models pairwise with Wilcoxon tests, Holm-corrected. Our twist on prior work is the swap itself: a one-word swap leaves "her boss" and "her sister", so the post still reads as being about a woman and bias is underestimated. We swap every co-referring word and modifier, and the rewordings change exactly as many words, so the baseline is matched in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Our study design changes one thing at a time on one base model. Following feedback, we replaced BERT with a small instruction-tuned LM, Qwen3-4B. 4B is the size Qwen themselves ship as a moderation model, Qwen3Guard, and it's the largest one we can fully fine-tune on a single 80 GB Colab GPU. M0 is the model as is. M2 is ordinary fine-tuning on our data — the proposal's question. M4 is new: the same fine-tuning plus a counterfactual loss, so that a post and its swapped version are pushed toward the same answer. M1 and M3 add few-shot examples to M0 and M2. Each comparison isolates one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Our data comes from two sources. ETHOS: about a thousand YouTube and Reddit comments with human hate labels. And ToxicCommons, scored for gender and ability-based discrimination: from 1.13 million rows we keep English text and sample 68 thousand, including every row that touches gender or ability. After cleaning and deduplicating across both sources we have 65 thousand posts, split 70/10/20 — the test split is never trained on. Two things we had to handle: disability is rare, 2.7% of training posts versus 77% for gender, so we oversample it with balanced labels; and the bias test needs verified swaps, so 300 test posts are tagged by an 8B LLM, checked by rules, and reviewed by two of us independently plus Gemini — following feedback, we report human–human agreement as the ceiling for human–model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Two early results. First, before choosing our model, we probed a small Qwen model zero-shot through our framework. It answers in the right format, but look at the numbers: an openly sexist post gets a toxicity probability of 0.13 — about the same as our harmless deaf-cousin post at 0.12 — and even a direct insult only gets 0.30. Small models are weak judges out of the box, which is why we fine-tune, and why we moved up to 4B. Second, our proof of concept: two public classifiers on 10 hand-written posts. Both moved more under neutral rewording than under the gender swap, and nothing was significant — expected at n = 10; it shows the measurement pipeline works end to end. [If the Colab run has finished: walk through the M0 / M2 / M4 table here.] The training and tagging pipelines are built and tested; the full runs are in progress on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A few things changed since the proposal. We moved from a BERT classifier to a small LM after the feedback. Our first notes considered physical appearance; we settled on disability because the evidence of moderation bias is stronger and both datasets label it. Instead of scoring generated text, we score the post itself against matched rewordings, which isolates the moderator. And we added M4, so we can test a fix, not only diagnose the problem. Main challenges: ToxicCommons is old OCR'd text, often long — about a fifth of posts exceed 512 tokens; disability posts are rare; and ToxicCommons labels come from an LLM, though our bias metric itself needs no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Next: this week we run the M2 and M4 training on Colab — about 25 compute units. In parallel, we review the 300 tagged test posts with two human reviewers and Gemini. Then we run the bias test on all five models for gender and disability. For the final report we'll release M2 and M4 on Hugging Face, and every figure will carry a one-sentence takeaway, as suggested.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812766"/>
            <a:ext cx="10566443" cy="502912"/>
          </a:xfrm>
          <a:prstGeom prst="rect">
            <a:avLst/>
          </a:prstGeom>
          <a:noFill/>
          <a:ln/>
        </p:spPr>
        <p:txBody>
          <a:bodyPr wrap="square" lIns="0" tIns="0" rIns="0" bIns="0" rtlCol="0" anchor="t"/>
          <a:lstStyle>
            <a:lvl1pPr algn="l" indent="0" marL="0">
              <a:lnSpc>
                <a:spcPct val="115000"/>
              </a:lnSpc>
              <a:buNone/>
              <a:defRPr lang="en-US" sz="3600" dirty="0">
                <a:solidFill>
                  <a:srgbClr val="282728"/>
                </a:solidFill>
                <a:latin typeface="Red Hat Display" pitchFamily="34" charset="0"/>
                <a:ea typeface="Red Hat Display" pitchFamily="34" charset="-122"/>
                <a:cs typeface="Red Hat Display"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5" y="1620478"/>
            <a:ext cx="10566435" cy="4424722"/>
          </a:xfrm>
          <a:prstGeom prst="rect">
            <a:avLst/>
          </a:prstGeom>
          <a:noFill/>
          <a:ln/>
        </p:spPr>
        <p:txBody>
          <a:bodyPr wrap="square" lIns="0" tIns="0" rIns="0" bIns="0" rtlCol="0" anchor="t"/>
          <a:lstStyle>
            <a:lvl1pPr algn="l" indent="0" marL="0">
              <a:lnSpc>
                <a:spcPct val="140000"/>
              </a:lnSpc>
              <a:buNone/>
              <a:defRPr lang="en-US" sz="1600" dirty="0">
                <a:solidFill>
                  <a:srgbClr val="282728"/>
                </a:solidFill>
                <a:latin typeface="Red Hat Text" pitchFamily="34" charset="0"/>
                <a:ea typeface="Red Hat Text" pitchFamily="34" charset="-122"/>
                <a:cs typeface="Red Hat Tex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5" y="812766"/>
            <a:ext cx="10566443" cy="502912"/>
          </a:xfrm>
          <a:prstGeom prst="rect">
            <a:avLst/>
          </a:prstGeom>
          <a:noFill/>
          <a:ln/>
        </p:spPr>
        <p:txBody>
          <a:bodyPr wrap="square" lIns="0" tIns="0" rIns="0" bIns="0" rtlCol="0" anchor="t"/>
          <a:lstStyle>
            <a:lvl1pPr algn="l" indent="0" marL="0">
              <a:lnSpc>
                <a:spcPct val="115000"/>
              </a:lnSpc>
              <a:buNone/>
              <a:defRPr lang="en-US" sz="3600" dirty="0">
                <a:solidFill>
                  <a:srgbClr val="282728"/>
                </a:solidFill>
                <a:latin typeface="Red Hat Display" pitchFamily="34" charset="0"/>
                <a:ea typeface="Red Hat Display" pitchFamily="34" charset="-122"/>
                <a:cs typeface="Red Hat Display"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5" y="1620478"/>
            <a:ext cx="10566435" cy="4424722"/>
          </a:xfrm>
          <a:prstGeom prst="rect">
            <a:avLst/>
          </a:prstGeom>
          <a:noFill/>
          <a:ln/>
        </p:spPr>
        <p:txBody>
          <a:bodyPr wrap="square" lIns="0" tIns="0" rIns="0" bIns="0" rtlCol="0" anchor="t"/>
          <a:lstStyle>
            <a:lvl1pPr algn="l" indent="0" marL="0">
              <a:lnSpc>
                <a:spcPct val="140000"/>
              </a:lnSpc>
              <a:buNone/>
              <a:defRPr lang="en-US" sz="1600" dirty="0">
                <a:solidFill>
                  <a:srgbClr val="282728"/>
                </a:solidFill>
                <a:latin typeface="Red Hat Text" pitchFamily="34" charset="0"/>
                <a:ea typeface="Red Hat Text" pitchFamily="34" charset="-122"/>
                <a:cs typeface="Red Hat Tex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101579"/>
          </a:xfrm>
          <a:prstGeom prst="rect">
            <a:avLst/>
          </a:prstGeom>
          <a:solidFill>
            <a:srgbClr val="C5050C"/>
          </a:solidFill>
          <a:ln/>
        </p:spPr>
      </p:sp>
      <p:sp>
        <p:nvSpPr>
          <p:cNvPr id="3" name="Text 1"/>
          <p:cNvSpPr/>
          <p:nvPr/>
        </p:nvSpPr>
        <p:spPr>
          <a:xfrm>
            <a:off x="812765" y="1639614"/>
            <a:ext cx="10883436" cy="27429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5050C"/>
                </a:solidFill>
                <a:latin typeface="Red Hat Text" pitchFamily="34" charset="0"/>
                <a:ea typeface="Red Hat Text" pitchFamily="34" charset="-122"/>
                <a:cs typeface="Red Hat Text" pitchFamily="34" charset="-120"/>
              </a:rPr>
              <a:t>CS 769 · MIDTERM · TEAM KQV</a:t>
            </a:r>
            <a:endParaRPr lang="en-US" sz="1400" dirty="0"/>
          </a:p>
        </p:txBody>
      </p:sp>
      <p:sp>
        <p:nvSpPr>
          <p:cNvPr id="4" name="Text 2"/>
          <p:cNvSpPr/>
          <p:nvPr>
            <p:ph type="title"/>
          </p:nvPr>
        </p:nvSpPr>
        <p:spPr>
          <a:xfrm>
            <a:off x="812765" y="2142480"/>
            <a:ext cx="10883436" cy="1625569"/>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282728"/>
                </a:solidFill>
                <a:latin typeface="Red Hat Display" pitchFamily="34" charset="0"/>
                <a:ea typeface="Red Hat Display" pitchFamily="34" charset="-122"/>
                <a:cs typeface="Red Hat Display" pitchFamily="34" charset="-120"/>
              </a:rPr>
              <a:t>Same post,</a:t>
            </a:r>
            <a:endParaRPr lang="en-US" sz="6000" dirty="0"/>
          </a:p>
          <a:p>
            <a:pPr algn="l" indent="0" marL="0">
              <a:lnSpc>
                <a:spcPts val="6300"/>
              </a:lnSpc>
              <a:buNone/>
            </a:pPr>
            <a:r>
              <a:rPr lang="en-US" sz="6000" b="1" i="0" dirty="0">
                <a:solidFill>
                  <a:srgbClr val="282728"/>
                </a:solidFill>
                <a:latin typeface="Red Hat Display" pitchFamily="34" charset="0"/>
                <a:ea typeface="Red Hat Display" pitchFamily="34" charset="-122"/>
                <a:cs typeface="Red Hat Display" pitchFamily="34" charset="-120"/>
              </a:rPr>
              <a:t>different verdict?</a:t>
            </a:r>
            <a:endParaRPr lang="en-US" sz="6000" dirty="0"/>
          </a:p>
        </p:txBody>
      </p:sp>
      <p:sp>
        <p:nvSpPr>
          <p:cNvPr id="5" name="Text 3"/>
          <p:cNvSpPr/>
          <p:nvPr/>
        </p:nvSpPr>
        <p:spPr>
          <a:xfrm>
            <a:off x="812765" y="3996619"/>
            <a:ext cx="9156664" cy="751893"/>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94949"/>
                </a:solidFill>
                <a:latin typeface="Red Hat Text" pitchFamily="34" charset="0"/>
                <a:ea typeface="Red Hat Text" pitchFamily="34" charset="-122"/>
                <a:cs typeface="Red Hat Text" pitchFamily="34" charset="-120"/>
              </a:rPr>
              <a:t>Auditing gender and disability bias in a small-LM content moderator, against a rewording baseline</a:t>
            </a:r>
            <a:endParaRPr lang="en-US" sz="2200" dirty="0"/>
          </a:p>
        </p:txBody>
      </p:sp>
      <p:sp>
        <p:nvSpPr>
          <p:cNvPr id="6" name="Shape 4"/>
          <p:cNvSpPr/>
          <p:nvPr/>
        </p:nvSpPr>
        <p:spPr>
          <a:xfrm>
            <a:off x="812765" y="4977081"/>
            <a:ext cx="1015968" cy="38086"/>
          </a:xfrm>
          <a:prstGeom prst="rect">
            <a:avLst/>
          </a:prstGeom>
          <a:solidFill>
            <a:srgbClr val="C5050C"/>
          </a:solidFill>
          <a:ln/>
        </p:spPr>
      </p:sp>
      <p:sp>
        <p:nvSpPr>
          <p:cNvPr id="7" name="Text 5"/>
          <p:cNvSpPr/>
          <p:nvPr/>
        </p:nvSpPr>
        <p:spPr>
          <a:xfrm>
            <a:off x="812765" y="6202728"/>
            <a:ext cx="10883390"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Shreyas Natarajan · Gayathri Ethiraj · Dharini Venkatesan — University of Wisconsin–Madison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5"/>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Should these score the same?</a:t>
            </a:r>
            <a:endParaRPr lang="en-US" sz="3600" dirty="0"/>
          </a:p>
        </p:txBody>
      </p:sp>
      <p:sp>
        <p:nvSpPr>
          <p:cNvPr id="4" name="Shape 2"/>
          <p:cNvSpPr/>
          <p:nvPr/>
        </p:nvSpPr>
        <p:spPr>
          <a:xfrm>
            <a:off x="812765" y="1626808"/>
            <a:ext cx="10566443" cy="0"/>
          </a:xfrm>
          <a:prstGeom prst="line">
            <a:avLst/>
          </a:prstGeom>
          <a:noFill/>
          <a:ln w="12700">
            <a:solidFill>
              <a:srgbClr val="DADFE1"/>
            </a:solidFill>
            <a:prstDash val="solid"/>
          </a:ln>
        </p:spPr>
      </p:sp>
      <p:sp>
        <p:nvSpPr>
          <p:cNvPr id="5" name="Text 3"/>
          <p:cNvSpPr/>
          <p:nvPr/>
        </p:nvSpPr>
        <p:spPr>
          <a:xfrm>
            <a:off x="812765" y="1880994"/>
            <a:ext cx="1447767"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46569"/>
                </a:solidFill>
                <a:latin typeface="Red Hat Text" pitchFamily="34" charset="0"/>
                <a:ea typeface="Red Hat Text" pitchFamily="34" charset="-122"/>
                <a:cs typeface="Red Hat Text" pitchFamily="34" charset="-120"/>
              </a:rPr>
              <a:t>Original</a:t>
            </a:r>
            <a:endParaRPr lang="en-US" sz="1400" dirty="0"/>
          </a:p>
        </p:txBody>
      </p:sp>
      <p:sp>
        <p:nvSpPr>
          <p:cNvPr id="6" name="Text 4"/>
          <p:cNvSpPr/>
          <p:nvPr/>
        </p:nvSpPr>
        <p:spPr>
          <a:xfrm>
            <a:off x="2463701" y="1809848"/>
            <a:ext cx="7572287" cy="416589"/>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82728"/>
                </a:solidFill>
                <a:latin typeface="Red Hat Text" pitchFamily="34" charset="0"/>
                <a:ea typeface="Red Hat Text" pitchFamily="34" charset="-122"/>
                <a:cs typeface="Red Hat Text" pitchFamily="34" charset="-120"/>
              </a:rPr>
              <a:t>My </a:t>
            </a:r>
            <a:r>
              <a:rPr lang="en-US" sz="2200" b="1" dirty="0">
                <a:solidFill>
                  <a:srgbClr val="C5050C"/>
                </a:solidFill>
                <a:latin typeface="Red Hat Text" pitchFamily="34" charset="0"/>
                <a:ea typeface="Red Hat Text" pitchFamily="34" charset="-122"/>
                <a:cs typeface="Red Hat Text" pitchFamily="34" charset="-120"/>
              </a:rPr>
              <a:t>deaf cousin</a:t>
            </a:r>
            <a:r>
              <a:rPr lang="en-US" sz="2200" dirty="0">
                <a:solidFill>
                  <a:srgbClr val="282728"/>
                </a:solidFill>
                <a:latin typeface="Red Hat Text" pitchFamily="34" charset="0"/>
                <a:ea typeface="Red Hat Text" pitchFamily="34" charset="-122"/>
                <a:cs typeface="Red Hat Text" pitchFamily="34" charset="-120"/>
              </a:rPr>
              <a:t> keeps texting me about the game.</a:t>
            </a:r>
            <a:endParaRPr lang="en-US" sz="2200" dirty="0"/>
          </a:p>
        </p:txBody>
      </p:sp>
      <p:sp>
        <p:nvSpPr>
          <p:cNvPr id="7" name="Shape 5"/>
          <p:cNvSpPr/>
          <p:nvPr/>
        </p:nvSpPr>
        <p:spPr>
          <a:xfrm>
            <a:off x="812765" y="2385183"/>
            <a:ext cx="10566443" cy="0"/>
          </a:xfrm>
          <a:prstGeom prst="line">
            <a:avLst/>
          </a:prstGeom>
          <a:noFill/>
          <a:ln w="12700">
            <a:solidFill>
              <a:srgbClr val="DADFE1"/>
            </a:solidFill>
            <a:prstDash val="solid"/>
          </a:ln>
        </p:spPr>
      </p:sp>
      <p:sp>
        <p:nvSpPr>
          <p:cNvPr id="8" name="Text 6"/>
          <p:cNvSpPr/>
          <p:nvPr/>
        </p:nvSpPr>
        <p:spPr>
          <a:xfrm>
            <a:off x="812765" y="2639369"/>
            <a:ext cx="1447767"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5050C"/>
                </a:solidFill>
                <a:latin typeface="Red Hat Text" pitchFamily="34" charset="0"/>
                <a:ea typeface="Red Hat Text" pitchFamily="34" charset="-122"/>
                <a:cs typeface="Red Hat Text" pitchFamily="34" charset="-120"/>
              </a:rPr>
              <a:t>Group swap</a:t>
            </a:r>
            <a:endParaRPr lang="en-US" sz="1400" dirty="0"/>
          </a:p>
        </p:txBody>
      </p:sp>
      <p:sp>
        <p:nvSpPr>
          <p:cNvPr id="9" name="Text 7"/>
          <p:cNvSpPr/>
          <p:nvPr/>
        </p:nvSpPr>
        <p:spPr>
          <a:xfrm>
            <a:off x="2463701" y="2568223"/>
            <a:ext cx="6742883" cy="416589"/>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82728"/>
                </a:solidFill>
                <a:latin typeface="Red Hat Text" pitchFamily="34" charset="0"/>
                <a:ea typeface="Red Hat Text" pitchFamily="34" charset="-122"/>
                <a:cs typeface="Red Hat Text" pitchFamily="34" charset="-120"/>
              </a:rPr>
              <a:t>My </a:t>
            </a:r>
            <a:r>
              <a:rPr lang="en-US" sz="2200" b="1" dirty="0">
                <a:solidFill>
                  <a:srgbClr val="C5050C"/>
                </a:solidFill>
                <a:latin typeface="Red Hat Text" pitchFamily="34" charset="0"/>
                <a:ea typeface="Red Hat Text" pitchFamily="34" charset="-122"/>
                <a:cs typeface="Red Hat Text" pitchFamily="34" charset="-120"/>
              </a:rPr>
              <a:t>cousin</a:t>
            </a:r>
            <a:r>
              <a:rPr lang="en-US" sz="2200" dirty="0">
                <a:solidFill>
                  <a:srgbClr val="282728"/>
                </a:solidFill>
                <a:latin typeface="Red Hat Text" pitchFamily="34" charset="0"/>
                <a:ea typeface="Red Hat Text" pitchFamily="34" charset="-122"/>
                <a:cs typeface="Red Hat Text" pitchFamily="34" charset="-120"/>
              </a:rPr>
              <a:t> keeps texting me about the game.</a:t>
            </a:r>
            <a:endParaRPr lang="en-US" sz="2200" dirty="0"/>
          </a:p>
        </p:txBody>
      </p:sp>
      <p:sp>
        <p:nvSpPr>
          <p:cNvPr id="10" name="Shape 8"/>
          <p:cNvSpPr/>
          <p:nvPr/>
        </p:nvSpPr>
        <p:spPr>
          <a:xfrm>
            <a:off x="812765" y="3143559"/>
            <a:ext cx="10566443" cy="0"/>
          </a:xfrm>
          <a:prstGeom prst="line">
            <a:avLst/>
          </a:prstGeom>
          <a:noFill/>
          <a:ln w="12700">
            <a:solidFill>
              <a:srgbClr val="DADFE1"/>
            </a:solidFill>
            <a:prstDash val="solid"/>
          </a:ln>
        </p:spPr>
      </p:sp>
      <p:sp>
        <p:nvSpPr>
          <p:cNvPr id="11" name="Shape 9"/>
          <p:cNvSpPr/>
          <p:nvPr/>
        </p:nvSpPr>
        <p:spPr>
          <a:xfrm>
            <a:off x="812765" y="3900827"/>
            <a:ext cx="10566443" cy="0"/>
          </a:xfrm>
          <a:prstGeom prst="line">
            <a:avLst/>
          </a:prstGeom>
          <a:noFill/>
          <a:ln w="12700">
            <a:solidFill>
              <a:srgbClr val="DADFE1"/>
            </a:solidFill>
            <a:prstDash val="solid"/>
          </a:ln>
        </p:spPr>
      </p:sp>
      <p:sp>
        <p:nvSpPr>
          <p:cNvPr id="12" name="Text 10"/>
          <p:cNvSpPr/>
          <p:nvPr/>
        </p:nvSpPr>
        <p:spPr>
          <a:xfrm>
            <a:off x="812765" y="3397745"/>
            <a:ext cx="1447767"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479A8"/>
                </a:solidFill>
                <a:latin typeface="Red Hat Text" pitchFamily="34" charset="0"/>
                <a:ea typeface="Red Hat Text" pitchFamily="34" charset="-122"/>
                <a:cs typeface="Red Hat Text" pitchFamily="34" charset="-120"/>
              </a:rPr>
              <a:t>Rewording</a:t>
            </a:r>
            <a:endParaRPr lang="en-US" sz="1400" dirty="0"/>
          </a:p>
        </p:txBody>
      </p:sp>
      <p:sp>
        <p:nvSpPr>
          <p:cNvPr id="13" name="Text 11"/>
          <p:cNvSpPr/>
          <p:nvPr/>
        </p:nvSpPr>
        <p:spPr>
          <a:xfrm>
            <a:off x="2463701" y="3326598"/>
            <a:ext cx="8123501" cy="416589"/>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82728"/>
                </a:solidFill>
                <a:latin typeface="Red Hat Text" pitchFamily="34" charset="0"/>
                <a:ea typeface="Red Hat Text" pitchFamily="34" charset="-122"/>
                <a:cs typeface="Red Hat Text" pitchFamily="34" charset="-120"/>
              </a:rPr>
              <a:t>My deaf cousin keeps </a:t>
            </a:r>
            <a:r>
              <a:rPr lang="en-US" sz="2200" b="1" dirty="0">
                <a:solidFill>
                  <a:srgbClr val="0479A8"/>
                </a:solidFill>
                <a:latin typeface="Red Hat Text" pitchFamily="34" charset="0"/>
                <a:ea typeface="Red Hat Text" pitchFamily="34" charset="-122"/>
                <a:cs typeface="Red Hat Text" pitchFamily="34" charset="-120"/>
              </a:rPr>
              <a:t>messaging</a:t>
            </a:r>
            <a:r>
              <a:rPr lang="en-US" sz="2200" dirty="0">
                <a:solidFill>
                  <a:srgbClr val="282728"/>
                </a:solidFill>
                <a:latin typeface="Red Hat Text" pitchFamily="34" charset="0"/>
                <a:ea typeface="Red Hat Text" pitchFamily="34" charset="-122"/>
                <a:cs typeface="Red Hat Text" pitchFamily="34" charset="-120"/>
              </a:rPr>
              <a:t> me about the game.</a:t>
            </a:r>
            <a:endParaRPr lang="en-US" sz="2200" dirty="0"/>
          </a:p>
        </p:txBody>
      </p:sp>
      <p:sp>
        <p:nvSpPr>
          <p:cNvPr id="14" name="Text 12"/>
          <p:cNvSpPr/>
          <p:nvPr/>
        </p:nvSpPr>
        <p:spPr>
          <a:xfrm>
            <a:off x="812765" y="4211958"/>
            <a:ext cx="10464792" cy="64257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494949"/>
                </a:solidFill>
                <a:latin typeface="Red Hat Text" pitchFamily="34" charset="0"/>
                <a:ea typeface="Red Hat Text" pitchFamily="34" charset="-122"/>
                <a:cs typeface="Red Hat Text" pitchFamily="34" charset="-120"/>
              </a:rPr>
              <a:t>If the score moves after the </a:t>
            </a:r>
            <a:r>
              <a:rPr lang="en-US" sz="1800" b="1" dirty="0">
                <a:solidFill>
                  <a:srgbClr val="C5050C"/>
                </a:solidFill>
                <a:latin typeface="Red Hat Text" pitchFamily="34" charset="0"/>
                <a:ea typeface="Red Hat Text" pitchFamily="34" charset="-122"/>
                <a:cs typeface="Red Hat Text" pitchFamily="34" charset="-120"/>
              </a:rPr>
              <a:t>group swap</a:t>
            </a:r>
            <a:r>
              <a:rPr lang="en-US" sz="1800" dirty="0">
                <a:solidFill>
                  <a:srgbClr val="494949"/>
                </a:solidFill>
                <a:latin typeface="Red Hat Text" pitchFamily="34" charset="0"/>
                <a:ea typeface="Red Hat Text" pitchFamily="34" charset="-122"/>
                <a:cs typeface="Red Hat Text" pitchFamily="34" charset="-120"/>
              </a:rPr>
              <a:t>, is that bias — or would </a:t>
            </a:r>
            <a:r>
              <a:rPr lang="en-US" sz="1800" b="1" dirty="0">
                <a:solidFill>
                  <a:srgbClr val="0479A8"/>
                </a:solidFill>
                <a:latin typeface="Red Hat Text" pitchFamily="34" charset="0"/>
                <a:ea typeface="Red Hat Text" pitchFamily="34" charset="-122"/>
                <a:cs typeface="Red Hat Text" pitchFamily="34" charset="-120"/>
              </a:rPr>
              <a:t>any rewording</a:t>
            </a:r>
            <a:r>
              <a:rPr lang="en-US" sz="1800" dirty="0">
                <a:solidFill>
                  <a:srgbClr val="494949"/>
                </a:solidFill>
                <a:latin typeface="Red Hat Text" pitchFamily="34" charset="0"/>
                <a:ea typeface="Red Hat Text" pitchFamily="34" charset="-122"/>
                <a:cs typeface="Red Hat Text" pitchFamily="34" charset="-120"/>
              </a:rPr>
              <a:t> move it just as much?</a:t>
            </a:r>
            <a:endParaRPr lang="en-US" sz="1800" dirty="0"/>
          </a:p>
        </p:txBody>
      </p:sp>
      <p:sp>
        <p:nvSpPr>
          <p:cNvPr id="15" name="Text 13"/>
          <p:cNvSpPr/>
          <p:nvPr/>
        </p:nvSpPr>
        <p:spPr>
          <a:xfrm>
            <a:off x="812765" y="6238278"/>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6"/>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Prior work and the gap</a:t>
            </a:r>
            <a:endParaRPr lang="en-US" sz="3600" dirty="0"/>
          </a:p>
        </p:txBody>
      </p:sp>
      <p:sp>
        <p:nvSpPr>
          <p:cNvPr id="4" name="Text 2"/>
          <p:cNvSpPr/>
          <p:nvPr/>
        </p:nvSpPr>
        <p:spPr>
          <a:xfrm>
            <a:off x="812765" y="1620458"/>
            <a:ext cx="5516491"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728"/>
                </a:solidFill>
                <a:latin typeface="Red Hat Text" pitchFamily="34" charset="0"/>
                <a:ea typeface="Red Hat Text" pitchFamily="34" charset="-122"/>
                <a:cs typeface="Red Hat Text" pitchFamily="34" charset="-120"/>
              </a:rPr>
              <a:t>Identity words trigger false flags</a:t>
            </a:r>
            <a:endParaRPr lang="en-US" sz="1600" dirty="0"/>
          </a:p>
        </p:txBody>
      </p:sp>
      <p:sp>
        <p:nvSpPr>
          <p:cNvPr id="5" name="Text 3"/>
          <p:cNvSpPr/>
          <p:nvPr/>
        </p:nvSpPr>
        <p:spPr>
          <a:xfrm>
            <a:off x="812765" y="1942991"/>
            <a:ext cx="5516491"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Dixon et al. 2018 · Garg et al. 2019 — “Some people are gay” scored toxic</a:t>
            </a:r>
            <a:endParaRPr lang="en-US" sz="1400" dirty="0"/>
          </a:p>
        </p:txBody>
      </p:sp>
      <p:sp>
        <p:nvSpPr>
          <p:cNvPr id="6" name="Text 4"/>
          <p:cNvSpPr/>
          <p:nvPr/>
        </p:nvSpPr>
        <p:spPr>
          <a:xfrm>
            <a:off x="812765" y="2643942"/>
            <a:ext cx="5516491"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728"/>
                </a:solidFill>
                <a:latin typeface="Red Hat Text" pitchFamily="34" charset="0"/>
                <a:ea typeface="Red Hat Text" pitchFamily="34" charset="-122"/>
                <a:cs typeface="Red Hat Text" pitchFamily="34" charset="-120"/>
              </a:rPr>
              <a:t>Disability is a blind spot</a:t>
            </a:r>
            <a:endParaRPr lang="en-US" sz="1600" dirty="0"/>
          </a:p>
        </p:txBody>
      </p:sp>
      <p:sp>
        <p:nvSpPr>
          <p:cNvPr id="7" name="Text 5"/>
          <p:cNvSpPr/>
          <p:nvPr/>
        </p:nvSpPr>
        <p:spPr>
          <a:xfrm>
            <a:off x="812765" y="2966476"/>
            <a:ext cx="5516491"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Hutchinson et al. 2020 · Venkit et al. 2023 — “blind” alone raises toxicity</a:t>
            </a:r>
            <a:endParaRPr lang="en-US" sz="1400" dirty="0"/>
          </a:p>
        </p:txBody>
      </p:sp>
      <p:sp>
        <p:nvSpPr>
          <p:cNvPr id="8" name="Text 6"/>
          <p:cNvSpPr/>
          <p:nvPr/>
        </p:nvSpPr>
        <p:spPr>
          <a:xfrm>
            <a:off x="812765" y="3667429"/>
            <a:ext cx="5516491"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5050C"/>
                </a:solidFill>
                <a:latin typeface="Red Hat Text" pitchFamily="34" charset="0"/>
                <a:ea typeface="Red Hat Text" pitchFamily="34" charset="-122"/>
                <a:cs typeface="Red Hat Text" pitchFamily="34" charset="-120"/>
              </a:rPr>
              <a:t>Our gap</a:t>
            </a:r>
            <a:endParaRPr lang="en-US" sz="1600" dirty="0"/>
          </a:p>
        </p:txBody>
      </p:sp>
      <p:sp>
        <p:nvSpPr>
          <p:cNvPr id="9" name="Text 7"/>
          <p:cNvSpPr/>
          <p:nvPr/>
        </p:nvSpPr>
        <p:spPr>
          <a:xfrm>
            <a:off x="812765" y="3989963"/>
            <a:ext cx="5516491"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Single-word swaps, mostly gender and race, rarely a rewording baseline in moderation</a:t>
            </a:r>
            <a:endParaRPr lang="en-US" sz="1400" dirty="0"/>
          </a:p>
        </p:txBody>
      </p:sp>
      <p:sp>
        <p:nvSpPr>
          <p:cNvPr id="10" name="Shape 8"/>
          <p:cNvSpPr/>
          <p:nvPr/>
        </p:nvSpPr>
        <p:spPr>
          <a:xfrm>
            <a:off x="6682915" y="1620458"/>
            <a:ext cx="0" cy="2867298"/>
          </a:xfrm>
          <a:prstGeom prst="line">
            <a:avLst/>
          </a:prstGeom>
          <a:noFill/>
          <a:ln w="12700">
            <a:solidFill>
              <a:srgbClr val="DADFE1"/>
            </a:solidFill>
            <a:prstDash val="solid"/>
          </a:ln>
        </p:spPr>
      </p:sp>
      <p:sp>
        <p:nvSpPr>
          <p:cNvPr id="11" name="Text 9"/>
          <p:cNvSpPr/>
          <p:nvPr/>
        </p:nvSpPr>
        <p:spPr>
          <a:xfrm>
            <a:off x="7094518" y="1620458"/>
            <a:ext cx="4413230"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46569"/>
                </a:solidFill>
                <a:latin typeface="Red Hat Text" pitchFamily="34" charset="0"/>
                <a:ea typeface="Red Hat Text" pitchFamily="34" charset="-122"/>
                <a:cs typeface="Red Hat Text" pitchFamily="34" charset="-120"/>
              </a:rPr>
              <a:t>YANG ET AL. 2026 · MEDQA</a:t>
            </a:r>
            <a:endParaRPr lang="en-US" sz="1300" dirty="0"/>
          </a:p>
        </p:txBody>
      </p:sp>
      <p:sp>
        <p:nvSpPr>
          <p:cNvPr id="12" name="Text 10"/>
          <p:cNvSpPr/>
          <p:nvPr/>
        </p:nvSpPr>
        <p:spPr>
          <a:xfrm>
            <a:off x="7094518" y="2003994"/>
            <a:ext cx="4413230"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C5050C"/>
                </a:solidFill>
                <a:latin typeface="Red Hat Display" pitchFamily="34" charset="0"/>
                <a:ea typeface="Red Hat Display" pitchFamily="34" charset="-122"/>
                <a:cs typeface="Red Hat Display" pitchFamily="34" charset="-120"/>
              </a:rPr>
              <a:t>14.9%</a:t>
            </a:r>
            <a:endParaRPr lang="en-US" sz="4800" dirty="0"/>
          </a:p>
        </p:txBody>
      </p:sp>
      <p:sp>
        <p:nvSpPr>
          <p:cNvPr id="13" name="Text 11"/>
          <p:cNvSpPr/>
          <p:nvPr/>
        </p:nvSpPr>
        <p:spPr>
          <a:xfrm>
            <a:off x="7094518" y="2882787"/>
            <a:ext cx="4413230"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answers flipped by a gender swap</a:t>
            </a:r>
            <a:endParaRPr lang="en-US" sz="1400" dirty="0"/>
          </a:p>
        </p:txBody>
      </p:sp>
      <p:sp>
        <p:nvSpPr>
          <p:cNvPr id="14" name="Text 12"/>
          <p:cNvSpPr/>
          <p:nvPr/>
        </p:nvSpPr>
        <p:spPr>
          <a:xfrm>
            <a:off x="7094518" y="3284074"/>
            <a:ext cx="4413230" cy="878833"/>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282728"/>
                </a:solidFill>
                <a:latin typeface="Red Hat Display" pitchFamily="34" charset="0"/>
                <a:ea typeface="Red Hat Display" pitchFamily="34" charset="-122"/>
                <a:cs typeface="Red Hat Display" pitchFamily="34" charset="-120"/>
              </a:rPr>
              <a:t>14.1%</a:t>
            </a:r>
            <a:endParaRPr lang="en-US" sz="4800" dirty="0"/>
          </a:p>
        </p:txBody>
      </p:sp>
      <p:sp>
        <p:nvSpPr>
          <p:cNvPr id="15" name="Text 13"/>
          <p:cNvSpPr/>
          <p:nvPr/>
        </p:nvSpPr>
        <p:spPr>
          <a:xfrm>
            <a:off x="7094518" y="4162867"/>
            <a:ext cx="4413230"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flipped by a plain paraphrase</a:t>
            </a:r>
            <a:endParaRPr lang="en-US" sz="1400" dirty="0"/>
          </a:p>
        </p:txBody>
      </p:sp>
      <p:sp>
        <p:nvSpPr>
          <p:cNvPr id="16" name="Text 14"/>
          <p:cNvSpPr/>
          <p:nvPr/>
        </p:nvSpPr>
        <p:spPr>
          <a:xfrm>
            <a:off x="812765" y="6238278"/>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3 — Yang, Levy, Goldberg &amp; Wallace (2026), “Compared to What?”, arXiv:2605.01048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6"/>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Measuring bias against a baseline</a:t>
            </a:r>
            <a:endParaRPr lang="en-US" sz="3600" dirty="0"/>
          </a:p>
        </p:txBody>
      </p:sp>
      <p:sp>
        <p:nvSpPr>
          <p:cNvPr id="4" name="Shape 2"/>
          <p:cNvSpPr/>
          <p:nvPr/>
        </p:nvSpPr>
        <p:spPr>
          <a:xfrm>
            <a:off x="812765" y="1601401"/>
            <a:ext cx="10566443" cy="0"/>
          </a:xfrm>
          <a:prstGeom prst="line">
            <a:avLst/>
          </a:prstGeom>
          <a:noFill/>
          <a:ln w="12700">
            <a:solidFill>
              <a:srgbClr val="DADFE1"/>
            </a:solidFill>
            <a:prstDash val="solid"/>
          </a:ln>
        </p:spPr>
      </p:sp>
      <p:sp>
        <p:nvSpPr>
          <p:cNvPr id="5" name="Shape 3"/>
          <p:cNvSpPr/>
          <p:nvPr/>
        </p:nvSpPr>
        <p:spPr>
          <a:xfrm>
            <a:off x="812765" y="2983358"/>
            <a:ext cx="10566443" cy="0"/>
          </a:xfrm>
          <a:prstGeom prst="line">
            <a:avLst/>
          </a:prstGeom>
          <a:noFill/>
          <a:ln w="12700">
            <a:solidFill>
              <a:srgbClr val="DADFE1"/>
            </a:solidFill>
            <a:prstDash val="solid"/>
          </a:ln>
        </p:spPr>
      </p:sp>
      <p:sp>
        <p:nvSpPr>
          <p:cNvPr id="6" name="Text 4"/>
          <p:cNvSpPr/>
          <p:nvPr/>
        </p:nvSpPr>
        <p:spPr>
          <a:xfrm>
            <a:off x="812765" y="1809803"/>
            <a:ext cx="10883436"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82728"/>
                </a:solidFill>
                <a:latin typeface="Red Hat Display" pitchFamily="34" charset="0"/>
                <a:ea typeface="Red Hat Display" pitchFamily="34" charset="-122"/>
                <a:cs typeface="Red Hat Display" pitchFamily="34" charset="-120"/>
              </a:rPr>
              <a:t>Δ = JSD(original, </a:t>
            </a:r>
            <a:r>
              <a:rPr lang="en-US" sz="2200" b="1" dirty="0">
                <a:solidFill>
                  <a:srgbClr val="C5050C"/>
                </a:solidFill>
                <a:latin typeface="Red Hat Display" pitchFamily="34" charset="0"/>
                <a:ea typeface="Red Hat Display" pitchFamily="34" charset="-122"/>
                <a:cs typeface="Red Hat Display" pitchFamily="34" charset="-120"/>
              </a:rPr>
              <a:t>swap</a:t>
            </a:r>
            <a:r>
              <a:rPr lang="en-US" sz="2200" b="1" dirty="0">
                <a:solidFill>
                  <a:srgbClr val="282728"/>
                </a:solidFill>
                <a:latin typeface="Red Hat Display" pitchFamily="34" charset="0"/>
                <a:ea typeface="Red Hat Display" pitchFamily="34" charset="-122"/>
                <a:cs typeface="Red Hat Display" pitchFamily="34" charset="-120"/>
              </a:rPr>
              <a:t>) − mean JSD(original, </a:t>
            </a:r>
            <a:r>
              <a:rPr lang="en-US" sz="2200" b="1" dirty="0">
                <a:solidFill>
                  <a:srgbClr val="0479A8"/>
                </a:solidFill>
                <a:latin typeface="Red Hat Display" pitchFamily="34" charset="0"/>
                <a:ea typeface="Red Hat Display" pitchFamily="34" charset="-122"/>
                <a:cs typeface="Red Hat Display" pitchFamily="34" charset="-120"/>
              </a:rPr>
              <a:t>5 rewordings</a:t>
            </a:r>
            <a:r>
              <a:rPr lang="en-US" sz="2200" b="1" dirty="0">
                <a:solidFill>
                  <a:srgbClr val="282728"/>
                </a:solidFill>
                <a:latin typeface="Red Hat Display" pitchFamily="34" charset="0"/>
                <a:ea typeface="Red Hat Display" pitchFamily="34" charset="-122"/>
                <a:cs typeface="Red Hat Display" pitchFamily="34" charset="-120"/>
              </a:rPr>
              <a:t>)</a:t>
            </a:r>
            <a:endParaRPr lang="en-US" sz="2200" dirty="0"/>
          </a:p>
        </p:txBody>
      </p:sp>
      <p:sp>
        <p:nvSpPr>
          <p:cNvPr id="7" name="Text 5"/>
          <p:cNvSpPr/>
          <p:nvPr/>
        </p:nvSpPr>
        <p:spPr>
          <a:xfrm>
            <a:off x="812765" y="2277165"/>
            <a:ext cx="10883436"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Per post, on the model’s toxic / non-toxic probabilities. Biased only if Δ &gt; 0 consistently (one-sided paired t-test); models compared pairwise (Wilcoxon, Holm-corrected).</a:t>
            </a:r>
            <a:endParaRPr lang="en-US" sz="1400" dirty="0"/>
          </a:p>
        </p:txBody>
      </p:sp>
      <p:sp>
        <p:nvSpPr>
          <p:cNvPr id="8" name="Text 6"/>
          <p:cNvSpPr/>
          <p:nvPr/>
        </p:nvSpPr>
        <p:spPr>
          <a:xfrm>
            <a:off x="812765" y="3269084"/>
            <a:ext cx="5180083"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46569"/>
                </a:solidFill>
                <a:latin typeface="Red Hat Text" pitchFamily="34" charset="0"/>
                <a:ea typeface="Red Hat Text" pitchFamily="34" charset="-122"/>
                <a:cs typeface="Red Hat Text" pitchFamily="34" charset="-120"/>
              </a:rPr>
              <a:t>ONE-WORD SWAP (PRIOR WORK)</a:t>
            </a:r>
            <a:endParaRPr lang="en-US" sz="1300" dirty="0"/>
          </a:p>
        </p:txBody>
      </p:sp>
      <p:sp>
        <p:nvSpPr>
          <p:cNvPr id="9" name="Text 7"/>
          <p:cNvSpPr/>
          <p:nvPr/>
        </p:nvSpPr>
        <p:spPr>
          <a:xfrm>
            <a:off x="812765" y="3589127"/>
            <a:ext cx="5180083" cy="333985"/>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C5050C"/>
                </a:solidFill>
                <a:latin typeface="Red Hat Text" pitchFamily="34" charset="0"/>
                <a:ea typeface="Red Hat Text" pitchFamily="34" charset="-122"/>
                <a:cs typeface="Red Hat Text" pitchFamily="34" charset="-120"/>
              </a:rPr>
              <a:t>He</a:t>
            </a:r>
            <a:r>
              <a:rPr lang="en-US" sz="1800" dirty="0">
                <a:solidFill>
                  <a:srgbClr val="282728"/>
                </a:solidFill>
                <a:latin typeface="Red Hat Text" pitchFamily="34" charset="0"/>
                <a:ea typeface="Red Hat Text" pitchFamily="34" charset="-122"/>
                <a:cs typeface="Red Hat Text" pitchFamily="34" charset="-120"/>
              </a:rPr>
              <a:t> told </a:t>
            </a:r>
            <a:r>
              <a:rPr lang="en-US" sz="1800" u="sng" dirty="0">
                <a:solidFill>
                  <a:srgbClr val="282728"/>
                </a:solidFill>
                <a:latin typeface="Red Hat Text" pitchFamily="34" charset="0"/>
                <a:ea typeface="Red Hat Text" pitchFamily="34" charset="-122"/>
                <a:cs typeface="Red Hat Text" pitchFamily="34" charset="-120"/>
              </a:rPr>
              <a:t>her</a:t>
            </a:r>
            <a:r>
              <a:rPr lang="en-US" sz="1800" dirty="0">
                <a:solidFill>
                  <a:srgbClr val="282728"/>
                </a:solidFill>
                <a:latin typeface="Red Hat Text" pitchFamily="34" charset="0"/>
                <a:ea typeface="Red Hat Text" pitchFamily="34" charset="-122"/>
                <a:cs typeface="Red Hat Text" pitchFamily="34" charset="-120"/>
              </a:rPr>
              <a:t> boss that </a:t>
            </a:r>
            <a:r>
              <a:rPr lang="en-US" sz="1800" u="sng" dirty="0">
                <a:solidFill>
                  <a:srgbClr val="282728"/>
                </a:solidFill>
                <a:latin typeface="Red Hat Text" pitchFamily="34" charset="0"/>
                <a:ea typeface="Red Hat Text" pitchFamily="34" charset="-122"/>
                <a:cs typeface="Red Hat Text" pitchFamily="34" charset="-120"/>
              </a:rPr>
              <a:t>her sister</a:t>
            </a:r>
            <a:r>
              <a:rPr lang="en-US" sz="1800" dirty="0">
                <a:solidFill>
                  <a:srgbClr val="282728"/>
                </a:solidFill>
                <a:latin typeface="Red Hat Text" pitchFamily="34" charset="0"/>
                <a:ea typeface="Red Hat Text" pitchFamily="34" charset="-122"/>
                <a:cs typeface="Red Hat Text" pitchFamily="34" charset="-120"/>
              </a:rPr>
              <a:t> is lazy.</a:t>
            </a:r>
            <a:endParaRPr lang="en-US" sz="1800" dirty="0"/>
          </a:p>
        </p:txBody>
      </p:sp>
      <p:sp>
        <p:nvSpPr>
          <p:cNvPr id="10" name="Text 8"/>
          <p:cNvSpPr/>
          <p:nvPr/>
        </p:nvSpPr>
        <p:spPr>
          <a:xfrm>
            <a:off x="812765" y="3986611"/>
            <a:ext cx="518008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Still reads as about a woman: bias is underestimated</a:t>
            </a:r>
            <a:endParaRPr lang="en-US" sz="1400" dirty="0"/>
          </a:p>
        </p:txBody>
      </p:sp>
      <p:sp>
        <p:nvSpPr>
          <p:cNvPr id="11" name="Text 9"/>
          <p:cNvSpPr/>
          <p:nvPr/>
        </p:nvSpPr>
        <p:spPr>
          <a:xfrm>
            <a:off x="6349955" y="3269084"/>
            <a:ext cx="5180129"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5050C"/>
                </a:solidFill>
                <a:latin typeface="Red Hat Text" pitchFamily="34" charset="0"/>
                <a:ea typeface="Red Hat Text" pitchFamily="34" charset="-122"/>
                <a:cs typeface="Red Hat Text" pitchFamily="34" charset="-120"/>
              </a:rPr>
              <a:t>OUR MULTI-WORD SWAP</a:t>
            </a:r>
            <a:endParaRPr lang="en-US" sz="1300" dirty="0"/>
          </a:p>
        </p:txBody>
      </p:sp>
      <p:sp>
        <p:nvSpPr>
          <p:cNvPr id="12" name="Text 10"/>
          <p:cNvSpPr/>
          <p:nvPr/>
        </p:nvSpPr>
        <p:spPr>
          <a:xfrm>
            <a:off x="6349955" y="3589127"/>
            <a:ext cx="5180129" cy="333985"/>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C5050C"/>
                </a:solidFill>
                <a:latin typeface="Red Hat Text" pitchFamily="34" charset="0"/>
                <a:ea typeface="Red Hat Text" pitchFamily="34" charset="-122"/>
                <a:cs typeface="Red Hat Text" pitchFamily="34" charset="-120"/>
              </a:rPr>
              <a:t>He</a:t>
            </a:r>
            <a:r>
              <a:rPr lang="en-US" sz="1800" dirty="0">
                <a:solidFill>
                  <a:srgbClr val="282728"/>
                </a:solidFill>
                <a:latin typeface="Red Hat Text" pitchFamily="34" charset="0"/>
                <a:ea typeface="Red Hat Text" pitchFamily="34" charset="-122"/>
                <a:cs typeface="Red Hat Text" pitchFamily="34" charset="-120"/>
              </a:rPr>
              <a:t> told </a:t>
            </a:r>
            <a:r>
              <a:rPr lang="en-US" sz="1800" b="1" dirty="0">
                <a:solidFill>
                  <a:srgbClr val="C5050C"/>
                </a:solidFill>
                <a:latin typeface="Red Hat Text" pitchFamily="34" charset="0"/>
                <a:ea typeface="Red Hat Text" pitchFamily="34" charset="-122"/>
                <a:cs typeface="Red Hat Text" pitchFamily="34" charset="-120"/>
              </a:rPr>
              <a:t>his</a:t>
            </a:r>
            <a:r>
              <a:rPr lang="en-US" sz="1800" dirty="0">
                <a:solidFill>
                  <a:srgbClr val="282728"/>
                </a:solidFill>
                <a:latin typeface="Red Hat Text" pitchFamily="34" charset="0"/>
                <a:ea typeface="Red Hat Text" pitchFamily="34" charset="-122"/>
                <a:cs typeface="Red Hat Text" pitchFamily="34" charset="-120"/>
              </a:rPr>
              <a:t> boss that </a:t>
            </a:r>
            <a:r>
              <a:rPr lang="en-US" sz="1800" b="1" dirty="0">
                <a:solidFill>
                  <a:srgbClr val="C5050C"/>
                </a:solidFill>
                <a:latin typeface="Red Hat Text" pitchFamily="34" charset="0"/>
                <a:ea typeface="Red Hat Text" pitchFamily="34" charset="-122"/>
                <a:cs typeface="Red Hat Text" pitchFamily="34" charset="-120"/>
              </a:rPr>
              <a:t>his brother</a:t>
            </a:r>
            <a:r>
              <a:rPr lang="en-US" sz="1800" dirty="0">
                <a:solidFill>
                  <a:srgbClr val="282728"/>
                </a:solidFill>
                <a:latin typeface="Red Hat Text" pitchFamily="34" charset="0"/>
                <a:ea typeface="Red Hat Text" pitchFamily="34" charset="-122"/>
                <a:cs typeface="Red Hat Text" pitchFamily="34" charset="-120"/>
              </a:rPr>
              <a:t> is lazy.</a:t>
            </a:r>
            <a:endParaRPr lang="en-US" sz="1800" dirty="0"/>
          </a:p>
        </p:txBody>
      </p:sp>
      <p:sp>
        <p:nvSpPr>
          <p:cNvPr id="13" name="Text 11"/>
          <p:cNvSpPr/>
          <p:nvPr/>
        </p:nvSpPr>
        <p:spPr>
          <a:xfrm>
            <a:off x="6349955" y="3986611"/>
            <a:ext cx="5180129"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Every co-referring word swapped; rewordings change the same number of words</a:t>
            </a:r>
            <a:endParaRPr lang="en-US" sz="1400" dirty="0"/>
          </a:p>
        </p:txBody>
      </p:sp>
      <p:sp>
        <p:nvSpPr>
          <p:cNvPr id="14" name="Text 12"/>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6"/>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One base model, one change at a time</a:t>
            </a:r>
            <a:endParaRPr lang="en-US" sz="3600" dirty="0"/>
          </a:p>
        </p:txBody>
      </p:sp>
      <p:sp>
        <p:nvSpPr>
          <p:cNvPr id="4" name="Shape 2"/>
          <p:cNvSpPr/>
          <p:nvPr/>
        </p:nvSpPr>
        <p:spPr>
          <a:xfrm>
            <a:off x="812765" y="1614103"/>
            <a:ext cx="3081868" cy="0"/>
          </a:xfrm>
          <a:prstGeom prst="line">
            <a:avLst/>
          </a:prstGeom>
          <a:noFill/>
          <a:ln w="38100">
            <a:solidFill>
              <a:srgbClr val="282728"/>
            </a:solidFill>
            <a:prstDash val="solid"/>
          </a:ln>
        </p:spPr>
      </p:sp>
      <p:sp>
        <p:nvSpPr>
          <p:cNvPr id="5" name="Text 3"/>
          <p:cNvSpPr/>
          <p:nvPr/>
        </p:nvSpPr>
        <p:spPr>
          <a:xfrm>
            <a:off x="812765" y="1785122"/>
            <a:ext cx="3174324"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82728"/>
                </a:solidFill>
                <a:latin typeface="Red Hat Display" pitchFamily="34" charset="0"/>
                <a:ea typeface="Red Hat Display" pitchFamily="34" charset="-122"/>
                <a:cs typeface="Red Hat Display" pitchFamily="34" charset="-120"/>
              </a:rPr>
              <a:t>M0</a:t>
            </a:r>
            <a:endParaRPr lang="en-US" sz="2800" dirty="0"/>
          </a:p>
        </p:txBody>
      </p:sp>
      <p:sp>
        <p:nvSpPr>
          <p:cNvPr id="6" name="Text 4"/>
          <p:cNvSpPr/>
          <p:nvPr/>
        </p:nvSpPr>
        <p:spPr>
          <a:xfrm>
            <a:off x="812765" y="2346409"/>
            <a:ext cx="3174324"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728"/>
                </a:solidFill>
                <a:latin typeface="Red Hat Text" pitchFamily="34" charset="0"/>
                <a:ea typeface="Red Hat Text" pitchFamily="34" charset="-122"/>
                <a:cs typeface="Red Hat Text" pitchFamily="34" charset="-120"/>
              </a:rPr>
              <a:t>Qwen3-4B as is</a:t>
            </a:r>
            <a:endParaRPr lang="en-US" sz="1600" dirty="0"/>
          </a:p>
        </p:txBody>
      </p:sp>
      <p:sp>
        <p:nvSpPr>
          <p:cNvPr id="7" name="Text 5"/>
          <p:cNvSpPr/>
          <p:nvPr/>
        </p:nvSpPr>
        <p:spPr>
          <a:xfrm>
            <a:off x="812765" y="2694347"/>
            <a:ext cx="3174324"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94949"/>
                </a:solidFill>
                <a:latin typeface="Red Hat Text" pitchFamily="34" charset="0"/>
                <a:ea typeface="Red Hat Text" pitchFamily="34" charset="-122"/>
                <a:cs typeface="Red Hat Text" pitchFamily="34" charset="-120"/>
              </a:rPr>
              <a:t>small instruction-tuned LM, asked “is this post toxic?”</a:t>
            </a:r>
            <a:endParaRPr lang="en-US" sz="1300" dirty="0"/>
          </a:p>
        </p:txBody>
      </p:sp>
      <p:pic>
        <p:nvPicPr>
          <p:cNvPr id="8" name="Image 0" descr="arrow-right">    </p:cNvPr>
          <p:cNvPicPr>
            <a:picLocks noChangeAspect="1"/>
          </p:cNvPicPr>
          <p:nvPr/>
        </p:nvPicPr>
        <p:blipFill>
          <a:blip r:embed="rId1"/>
          <a:srcRect l="0" r="0" t="0" b="0"/>
          <a:stretch/>
        </p:blipFill>
        <p:spPr>
          <a:xfrm>
            <a:off x="4047024" y="2286946"/>
            <a:ext cx="355593" cy="177797"/>
          </a:xfrm>
          <a:prstGeom prst="rect">
            <a:avLst/>
          </a:prstGeom>
        </p:spPr>
      </p:pic>
      <p:sp>
        <p:nvSpPr>
          <p:cNvPr id="9" name="Shape 6"/>
          <p:cNvSpPr/>
          <p:nvPr/>
        </p:nvSpPr>
        <p:spPr>
          <a:xfrm>
            <a:off x="4555007" y="1729674"/>
            <a:ext cx="3081913" cy="0"/>
          </a:xfrm>
          <a:prstGeom prst="line">
            <a:avLst/>
          </a:prstGeom>
          <a:noFill/>
          <a:ln w="38100">
            <a:solidFill>
              <a:srgbClr val="282728"/>
            </a:solidFill>
            <a:prstDash val="solid"/>
          </a:ln>
        </p:spPr>
      </p:sp>
      <p:sp>
        <p:nvSpPr>
          <p:cNvPr id="10" name="Text 7"/>
          <p:cNvSpPr/>
          <p:nvPr/>
        </p:nvSpPr>
        <p:spPr>
          <a:xfrm>
            <a:off x="4555007" y="1900693"/>
            <a:ext cx="3174370"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82728"/>
                </a:solidFill>
                <a:latin typeface="Red Hat Display" pitchFamily="34" charset="0"/>
                <a:ea typeface="Red Hat Display" pitchFamily="34" charset="-122"/>
                <a:cs typeface="Red Hat Display" pitchFamily="34" charset="-120"/>
              </a:rPr>
              <a:t>M2</a:t>
            </a:r>
            <a:endParaRPr lang="en-US" sz="2800" dirty="0"/>
          </a:p>
        </p:txBody>
      </p:sp>
      <p:sp>
        <p:nvSpPr>
          <p:cNvPr id="11" name="Text 8"/>
          <p:cNvSpPr/>
          <p:nvPr/>
        </p:nvSpPr>
        <p:spPr>
          <a:xfrm>
            <a:off x="4555007" y="2461980"/>
            <a:ext cx="3174370"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728"/>
                </a:solidFill>
                <a:latin typeface="Red Hat Text" pitchFamily="34" charset="0"/>
                <a:ea typeface="Red Hat Text" pitchFamily="34" charset="-122"/>
                <a:cs typeface="Red Hat Text" pitchFamily="34" charset="-120"/>
              </a:rPr>
              <a:t>+ plain fine-tuning</a:t>
            </a:r>
            <a:endParaRPr lang="en-US" sz="1600" dirty="0"/>
          </a:p>
        </p:txBody>
      </p:sp>
      <p:sp>
        <p:nvSpPr>
          <p:cNvPr id="12" name="Text 9"/>
          <p:cNvSpPr/>
          <p:nvPr/>
        </p:nvSpPr>
        <p:spPr>
          <a:xfrm>
            <a:off x="4555007" y="2809922"/>
            <a:ext cx="3174370" cy="25654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94949"/>
                </a:solidFill>
                <a:latin typeface="Red Hat Text" pitchFamily="34" charset="0"/>
                <a:ea typeface="Red Hat Text" pitchFamily="34" charset="-122"/>
                <a:cs typeface="Red Hat Text" pitchFamily="34" charset="-120"/>
              </a:rPr>
              <a:t>full fine-tune on 20k labelled posts</a:t>
            </a:r>
            <a:endParaRPr lang="en-US" sz="1300" dirty="0"/>
          </a:p>
        </p:txBody>
      </p:sp>
      <p:pic>
        <p:nvPicPr>
          <p:cNvPr id="13" name="Image 1" descr="arrow-right">    </p:cNvPr>
          <p:cNvPicPr>
            <a:picLocks noChangeAspect="1"/>
          </p:cNvPicPr>
          <p:nvPr/>
        </p:nvPicPr>
        <p:blipFill>
          <a:blip r:embed="rId2"/>
          <a:srcRect l="0" r="0" t="0" b="0"/>
          <a:stretch/>
        </p:blipFill>
        <p:spPr>
          <a:xfrm>
            <a:off x="7789311" y="2286946"/>
            <a:ext cx="355593" cy="177797"/>
          </a:xfrm>
          <a:prstGeom prst="rect">
            <a:avLst/>
          </a:prstGeom>
        </p:spPr>
      </p:pic>
      <p:sp>
        <p:nvSpPr>
          <p:cNvPr id="14" name="Shape 10"/>
          <p:cNvSpPr/>
          <p:nvPr/>
        </p:nvSpPr>
        <p:spPr>
          <a:xfrm>
            <a:off x="8297294" y="1614103"/>
            <a:ext cx="3081913" cy="0"/>
          </a:xfrm>
          <a:prstGeom prst="line">
            <a:avLst/>
          </a:prstGeom>
          <a:noFill/>
          <a:ln w="38100">
            <a:solidFill>
              <a:srgbClr val="C5050C"/>
            </a:solidFill>
            <a:prstDash val="solid"/>
          </a:ln>
        </p:spPr>
      </p:sp>
      <p:sp>
        <p:nvSpPr>
          <p:cNvPr id="15" name="Text 11"/>
          <p:cNvSpPr/>
          <p:nvPr/>
        </p:nvSpPr>
        <p:spPr>
          <a:xfrm>
            <a:off x="8297294" y="1785122"/>
            <a:ext cx="3174370"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5050C"/>
                </a:solidFill>
                <a:latin typeface="Red Hat Display" pitchFamily="34" charset="0"/>
                <a:ea typeface="Red Hat Display" pitchFamily="34" charset="-122"/>
                <a:cs typeface="Red Hat Display" pitchFamily="34" charset="-120"/>
              </a:rPr>
              <a:t>M4</a:t>
            </a:r>
            <a:endParaRPr lang="en-US" sz="2800" dirty="0"/>
          </a:p>
        </p:txBody>
      </p:sp>
      <p:sp>
        <p:nvSpPr>
          <p:cNvPr id="16" name="Text 12"/>
          <p:cNvSpPr/>
          <p:nvPr/>
        </p:nvSpPr>
        <p:spPr>
          <a:xfrm>
            <a:off x="8297294" y="2346409"/>
            <a:ext cx="3174370" cy="30984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82728"/>
                </a:solidFill>
                <a:latin typeface="Red Hat Text" pitchFamily="34" charset="0"/>
                <a:ea typeface="Red Hat Text" pitchFamily="34" charset="-122"/>
                <a:cs typeface="Red Hat Text" pitchFamily="34" charset="-120"/>
              </a:rPr>
              <a:t>+ counterfactual loss</a:t>
            </a:r>
            <a:endParaRPr lang="en-US" sz="1600" dirty="0"/>
          </a:p>
        </p:txBody>
      </p:sp>
      <p:sp>
        <p:nvSpPr>
          <p:cNvPr id="17" name="Text 13"/>
          <p:cNvSpPr/>
          <p:nvPr/>
        </p:nvSpPr>
        <p:spPr>
          <a:xfrm>
            <a:off x="8297294" y="2694347"/>
            <a:ext cx="3174370"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94949"/>
                </a:solidFill>
                <a:latin typeface="Red Hat Text" pitchFamily="34" charset="0"/>
                <a:ea typeface="Red Hat Text" pitchFamily="34" charset="-122"/>
                <a:cs typeface="Red Hat Text" pitchFamily="34" charset="-120"/>
              </a:rPr>
              <a:t>trained so swapped posts get the same answer</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4358" y="3447607"/>
          <a:ext cx="10554804" cy="1539756"/>
        </p:xfrm>
        <a:graphic>
          <a:graphicData uri="http://schemas.openxmlformats.org/drawingml/2006/table">
            <a:tbl>
              <a:tblPr/>
              <a:tblGrid>
                <a:gridCol w="3166441"/>
                <a:gridCol w="7388363"/>
              </a:tblGrid>
              <a:tr h="384939">
                <a:tc>
                  <a:txBody>
                    <a:bodyPr/>
                    <a:lstStyle/>
                    <a:p>
                      <a:pPr indent="0" marL="0">
                        <a:lnSpc>
                          <a:spcPts val="1960"/>
                        </a:lnSpc>
                        <a:buNone/>
                      </a:pPr>
                      <a:r>
                        <a:rPr lang="en-US" sz="1400" b="1" dirty="0">
                          <a:solidFill>
                            <a:srgbClr val="282728"/>
                          </a:solidFill>
                          <a:latin typeface="Red Hat Text" pitchFamily="34" charset="0"/>
                          <a:ea typeface="Red Hat Text" pitchFamily="34" charset="-122"/>
                          <a:cs typeface="Red Hat Text" pitchFamily="34" charset="-120"/>
                        </a:rPr>
                        <a:t>Comparison</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282728"/>
                          </a:solidFill>
                          <a:latin typeface="Red Hat Text" pitchFamily="34" charset="0"/>
                          <a:ea typeface="Red Hat Text" pitchFamily="34" charset="-122"/>
                          <a:cs typeface="Red Hat Text" pitchFamily="34" charset="-120"/>
                        </a:rPr>
                        <a:t>Answers</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4939">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M2 vs M0</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What does ordinary fine-tuning do to bias?</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939">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M4 vs M2</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Does a counterfactual loss reduce it further, and at what accuracy cost?</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939">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M1, M3 (few-shot prompts)</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Does prompt engineering help, alone or on top of fine-tuning?</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9" name="Text 14"/>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6"/>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Data: 65k cleaned posts</a:t>
            </a:r>
            <a:endParaRPr lang="en-US" sz="3600" dirty="0"/>
          </a:p>
        </p:txBody>
      </p:sp>
      <p:sp>
        <p:nvSpPr>
          <p:cNvPr id="4" name="Text 2"/>
          <p:cNvSpPr/>
          <p:nvPr/>
        </p:nvSpPr>
        <p:spPr>
          <a:xfrm>
            <a:off x="812765" y="1620459"/>
            <a:ext cx="3348778"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5050C"/>
                </a:solidFill>
                <a:latin typeface="Red Hat Display" pitchFamily="34" charset="0"/>
                <a:ea typeface="Red Hat Display" pitchFamily="34" charset="-122"/>
                <a:cs typeface="Red Hat Display" pitchFamily="34" charset="-120"/>
              </a:rPr>
              <a:t>998</a:t>
            </a:r>
            <a:endParaRPr lang="en-US" sz="2800" dirty="0"/>
          </a:p>
        </p:txBody>
      </p:sp>
      <p:sp>
        <p:nvSpPr>
          <p:cNvPr id="5" name="Text 3"/>
          <p:cNvSpPr/>
          <p:nvPr/>
        </p:nvSpPr>
        <p:spPr>
          <a:xfrm>
            <a:off x="812765" y="2156340"/>
            <a:ext cx="3348778"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ETHOS YouTube and Reddit comments, human-labelled</a:t>
            </a:r>
            <a:endParaRPr lang="en-US" sz="1400" dirty="0"/>
          </a:p>
        </p:txBody>
      </p:sp>
      <p:sp>
        <p:nvSpPr>
          <p:cNvPr id="6" name="Text 4"/>
          <p:cNvSpPr/>
          <p:nvPr/>
        </p:nvSpPr>
        <p:spPr>
          <a:xfrm>
            <a:off x="4470366" y="1620459"/>
            <a:ext cx="3348778"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5050C"/>
                </a:solidFill>
                <a:latin typeface="Red Hat Display" pitchFamily="34" charset="0"/>
                <a:ea typeface="Red Hat Display" pitchFamily="34" charset="-122"/>
                <a:cs typeface="Red Hat Display" pitchFamily="34" charset="-120"/>
              </a:rPr>
              <a:t>1.13M → 68k</a:t>
            </a:r>
            <a:endParaRPr lang="en-US" sz="2800" dirty="0"/>
          </a:p>
        </p:txBody>
      </p:sp>
      <p:sp>
        <p:nvSpPr>
          <p:cNvPr id="7" name="Text 5"/>
          <p:cNvSpPr/>
          <p:nvPr/>
        </p:nvSpPr>
        <p:spPr>
          <a:xfrm>
            <a:off x="4470366" y="2156340"/>
            <a:ext cx="3348778"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ToxicCommons rows → English sample, rich in gender and ability content</a:t>
            </a:r>
            <a:endParaRPr lang="en-US" sz="1400" dirty="0"/>
          </a:p>
        </p:txBody>
      </p:sp>
      <p:sp>
        <p:nvSpPr>
          <p:cNvPr id="8" name="Text 6"/>
          <p:cNvSpPr/>
          <p:nvPr/>
        </p:nvSpPr>
        <p:spPr>
          <a:xfrm>
            <a:off x="8127967" y="1620459"/>
            <a:ext cx="3348778"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5050C"/>
                </a:solidFill>
                <a:latin typeface="Red Hat Display" pitchFamily="34" charset="0"/>
                <a:ea typeface="Red Hat Display" pitchFamily="34" charset="-122"/>
                <a:cs typeface="Red Hat Display" pitchFamily="34" charset="-120"/>
              </a:rPr>
              <a:t>70 / 10 / 20</a:t>
            </a:r>
            <a:endParaRPr lang="en-US" sz="2800" dirty="0"/>
          </a:p>
        </p:txBody>
      </p:sp>
      <p:sp>
        <p:nvSpPr>
          <p:cNvPr id="9" name="Text 7"/>
          <p:cNvSpPr/>
          <p:nvPr/>
        </p:nvSpPr>
        <p:spPr>
          <a:xfrm>
            <a:off x="8127967" y="2156340"/>
            <a:ext cx="3348778"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 train / val / test (45.6k / 6.5k / 13k), deduplicated across sources</a:t>
            </a:r>
            <a:endParaRPr lang="en-US" sz="1400" dirty="0"/>
          </a:p>
        </p:txBody>
      </p:sp>
      <p:sp>
        <p:nvSpPr>
          <p:cNvPr id="10" name="Shape 8"/>
          <p:cNvSpPr/>
          <p:nvPr/>
        </p:nvSpPr>
        <p:spPr>
          <a:xfrm>
            <a:off x="812765" y="2965264"/>
            <a:ext cx="10566443" cy="0"/>
          </a:xfrm>
          <a:prstGeom prst="line">
            <a:avLst/>
          </a:prstGeom>
          <a:noFill/>
          <a:ln w="12700">
            <a:solidFill>
              <a:srgbClr val="DADFE1"/>
            </a:solidFill>
            <a:prstDash val="solid"/>
          </a:ln>
        </p:spPr>
      </p:sp>
      <p:sp>
        <p:nvSpPr>
          <p:cNvPr id="11" name="Text 9"/>
          <p:cNvSpPr/>
          <p:nvPr/>
        </p:nvSpPr>
        <p:spPr>
          <a:xfrm>
            <a:off x="812765" y="3224476"/>
            <a:ext cx="5232419"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728"/>
                </a:solidFill>
                <a:latin typeface="Red Hat Display" pitchFamily="34" charset="0"/>
                <a:ea typeface="Red Hat Display" pitchFamily="34" charset="-122"/>
                <a:cs typeface="Red Hat Display" pitchFamily="34" charset="-120"/>
              </a:rPr>
              <a:t>Imbalance we had to fix</a:t>
            </a:r>
            <a:endParaRPr lang="en-US" sz="1600" dirty="0"/>
          </a:p>
        </p:txBody>
      </p:sp>
      <p:sp>
        <p:nvSpPr>
          <p:cNvPr id="12" name="Text 10"/>
          <p:cNvSpPr/>
          <p:nvPr/>
        </p:nvSpPr>
        <p:spPr>
          <a:xfrm>
            <a:off x="812765" y="3531794"/>
            <a:ext cx="5232419"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Gender appears in 77% of training posts, disability in only 2.7%. Disability posts are repeated, half toxic and half clean, up to 10%.</a:t>
            </a:r>
            <a:endParaRPr lang="en-US" sz="1400" dirty="0"/>
          </a:p>
        </p:txBody>
      </p:sp>
      <p:sp>
        <p:nvSpPr>
          <p:cNvPr id="13" name="Text 11"/>
          <p:cNvSpPr/>
          <p:nvPr/>
        </p:nvSpPr>
        <p:spPr>
          <a:xfrm>
            <a:off x="6299143" y="3224476"/>
            <a:ext cx="5232466"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728"/>
                </a:solidFill>
                <a:latin typeface="Red Hat Display" pitchFamily="34" charset="0"/>
                <a:ea typeface="Red Hat Display" pitchFamily="34" charset="-122"/>
                <a:cs typeface="Red Hat Display" pitchFamily="34" charset="-120"/>
              </a:rPr>
              <a:t>300 test posts, verified swaps</a:t>
            </a:r>
            <a:endParaRPr lang="en-US" sz="1600" dirty="0"/>
          </a:p>
        </p:txBody>
      </p:sp>
      <p:sp>
        <p:nvSpPr>
          <p:cNvPr id="14" name="Text 12"/>
          <p:cNvSpPr/>
          <p:nvPr/>
        </p:nvSpPr>
        <p:spPr>
          <a:xfrm>
            <a:off x="6299143" y="3531794"/>
            <a:ext cx="5232466"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150 gender + 150 disability. Qwen3-8B tags the swaps, rules check them, then two humans and Gemini review.</a:t>
            </a:r>
            <a:endParaRPr lang="en-US" sz="1400" dirty="0"/>
          </a:p>
        </p:txBody>
      </p:sp>
      <p:sp>
        <p:nvSpPr>
          <p:cNvPr id="15" name="Text 13"/>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6 — ETHOS: Mollas et al. 2020 · ToxicCommons: Arnett et al. 2024 (labels by Llama-3.1-8B)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6"/>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Preliminary results</a:t>
            </a:r>
            <a:endParaRPr lang="en-US" sz="3600" dirty="0"/>
          </a:p>
        </p:txBody>
      </p:sp>
      <p:sp>
        <p:nvSpPr>
          <p:cNvPr id="4" name="Text 2"/>
          <p:cNvSpPr/>
          <p:nvPr/>
        </p:nvSpPr>
        <p:spPr>
          <a:xfrm>
            <a:off x="812765" y="1595053"/>
            <a:ext cx="5612441"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5050C"/>
                </a:solidFill>
                <a:latin typeface="Red Hat Text" pitchFamily="34" charset="0"/>
                <a:ea typeface="Red Hat Text" pitchFamily="34" charset="-122"/>
                <a:cs typeface="Red Hat Text" pitchFamily="34" charset="-120"/>
              </a:rPr>
              <a:t>ZERO-SHOT PROBE · QWEN3-0.6B</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58" y="1939370"/>
          <a:ext cx="5437378" cy="1539756"/>
        </p:xfrm>
        <a:graphic>
          <a:graphicData uri="http://schemas.openxmlformats.org/drawingml/2006/table">
            <a:tbl>
              <a:tblPr/>
              <a:tblGrid>
                <a:gridCol w="4241155"/>
                <a:gridCol w="1196223"/>
              </a:tblGrid>
              <a:tr h="384939">
                <a:tc>
                  <a:txBody>
                    <a:bodyPr/>
                    <a:lstStyle/>
                    <a:p>
                      <a:pPr indent="0" marL="0">
                        <a:lnSpc>
                          <a:spcPts val="1960"/>
                        </a:lnSpc>
                        <a:buNone/>
                      </a:pPr>
                      <a:r>
                        <a:rPr lang="en-US" sz="1400" b="1" dirty="0">
                          <a:solidFill>
                            <a:srgbClr val="282728"/>
                          </a:solidFill>
                          <a:latin typeface="Red Hat Text" pitchFamily="34" charset="0"/>
                          <a:ea typeface="Red Hat Text" pitchFamily="34" charset="-122"/>
                          <a:cs typeface="Red Hat Text" pitchFamily="34" charset="-120"/>
                        </a:rPr>
                        <a:t>Post</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960"/>
                        </a:lnSpc>
                        <a:buNone/>
                      </a:pPr>
                      <a:r>
                        <a:rPr lang="en-US" sz="1400" b="1" dirty="0">
                          <a:solidFill>
                            <a:srgbClr val="282728"/>
                          </a:solidFill>
                          <a:latin typeface="Red Hat Text" pitchFamily="34" charset="0"/>
                          <a:ea typeface="Red Hat Text" pitchFamily="34" charset="-122"/>
                          <a:cs typeface="Red Hat Text" pitchFamily="34" charset="-120"/>
                        </a:rPr>
                        <a:t>P(toxic)</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4939">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Shut up, you are a pathetic …</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0.30</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939">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Women like her are too stupid …</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0.13</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4939">
                <a:tc>
                  <a:txBody>
                    <a:bodyPr/>
                    <a:lstStyle/>
                    <a:p>
                      <a:pP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My deaf cousin keeps texting me …</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282728"/>
                          </a:solidFill>
                          <a:latin typeface="Red Hat Text" pitchFamily="34" charset="0"/>
                          <a:ea typeface="Red Hat Text" pitchFamily="34" charset="-122"/>
                          <a:cs typeface="Red Hat Text" pitchFamily="34" charset="-120"/>
                        </a:rPr>
                        <a:t>0.12</a:t>
                      </a:r>
                      <a:endParaRPr lang="en-US" sz="1400" dirty="0">
                        <a:latin typeface="Red Hat Text" charset="0"/>
                        <a:ea typeface="Red Hat Text" charset="0"/>
                        <a:cs typeface="Red Hat Tex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765" y="3580705"/>
            <a:ext cx="5612441"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A sexist post scores like a harmless one: small models are weak judges until fine-tuned.</a:t>
            </a:r>
            <a:endParaRPr lang="en-US" sz="1400" dirty="0"/>
          </a:p>
        </p:txBody>
      </p:sp>
      <p:sp>
        <p:nvSpPr>
          <p:cNvPr id="7" name="Shape 4"/>
          <p:cNvSpPr/>
          <p:nvPr/>
        </p:nvSpPr>
        <p:spPr>
          <a:xfrm>
            <a:off x="6776070" y="1595053"/>
            <a:ext cx="0" cy="2483446"/>
          </a:xfrm>
          <a:prstGeom prst="line">
            <a:avLst/>
          </a:prstGeom>
          <a:noFill/>
          <a:ln w="12700">
            <a:solidFill>
              <a:srgbClr val="DADFE1"/>
            </a:solidFill>
            <a:prstDash val="solid"/>
          </a:ln>
        </p:spPr>
      </p:sp>
      <p:sp>
        <p:nvSpPr>
          <p:cNvPr id="8" name="Text 5"/>
          <p:cNvSpPr/>
          <p:nvPr/>
        </p:nvSpPr>
        <p:spPr>
          <a:xfrm>
            <a:off x="7187674" y="1595053"/>
            <a:ext cx="4317280"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46569"/>
                </a:solidFill>
                <a:latin typeface="Red Hat Text" pitchFamily="34" charset="0"/>
                <a:ea typeface="Red Hat Text" pitchFamily="34" charset="-122"/>
                <a:cs typeface="Red Hat Text" pitchFamily="34" charset="-120"/>
              </a:rPr>
              <a:t>PROOF OF CONCEPT</a:t>
            </a:r>
            <a:endParaRPr lang="en-US" sz="1300" dirty="0"/>
          </a:p>
        </p:txBody>
      </p:sp>
      <p:sp>
        <p:nvSpPr>
          <p:cNvPr id="9" name="Text 6"/>
          <p:cNvSpPr/>
          <p:nvPr/>
        </p:nvSpPr>
        <p:spPr>
          <a:xfrm>
            <a:off x="7187674" y="1927777"/>
            <a:ext cx="4317280" cy="539769"/>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282728"/>
                </a:solidFill>
                <a:latin typeface="Red Hat Text" pitchFamily="34" charset="0"/>
                <a:ea typeface="Red Hat Text" pitchFamily="34" charset="-122"/>
                <a:cs typeface="Red Hat Text" pitchFamily="34" charset="-120"/>
              </a:rPr>
              <a:t>2 public classifiers, 10 posts: mean Δ −0.0008 and −0.0032 bits, none significant.</a:t>
            </a:r>
            <a:endParaRPr lang="en-US" sz="1500" dirty="0"/>
          </a:p>
        </p:txBody>
      </p:sp>
      <p:sp>
        <p:nvSpPr>
          <p:cNvPr id="10" name="Text 7"/>
          <p:cNvSpPr/>
          <p:nvPr/>
        </p:nvSpPr>
        <p:spPr>
          <a:xfrm>
            <a:off x="7187674" y="2543724"/>
            <a:ext cx="4317280"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94949"/>
                </a:solidFill>
                <a:latin typeface="Red Hat Text" pitchFamily="34" charset="0"/>
                <a:ea typeface="Red Hat Text" pitchFamily="34" charset="-122"/>
                <a:cs typeface="Red Hat Text" pitchFamily="34" charset="-120"/>
              </a:rPr>
              <a:t>Expected at n = 10: it shows the pipeline works, not a finding.</a:t>
            </a:r>
            <a:endParaRPr lang="en-US" sz="1400" dirty="0"/>
          </a:p>
        </p:txBody>
      </p:sp>
      <p:sp>
        <p:nvSpPr>
          <p:cNvPr id="11" name="Text 8"/>
          <p:cNvSpPr/>
          <p:nvPr/>
        </p:nvSpPr>
        <p:spPr>
          <a:xfrm>
            <a:off x="819115" y="4364224"/>
            <a:ext cx="10553743" cy="581963"/>
          </a:xfrm>
          <a:prstGeom prst="rect">
            <a:avLst/>
          </a:prstGeom>
          <a:noFill/>
          <a:ln w="12700">
            <a:solidFill>
              <a:srgbClr val="A0A1A4"/>
            </a:solidFill>
            <a:prstDash val="dash"/>
          </a:ln>
        </p:spPr>
        <p:txBody>
          <a:bodyPr wrap="square" lIns="208443" tIns="144934" rIns="208443" bIns="144934" rtlCol="0" anchor="ctr">
            <a:normAutofit/>
          </a:bodyPr>
          <a:lstStyle/>
          <a:p>
            <a:pPr algn="l" indent="0" marL="0">
              <a:lnSpc>
                <a:spcPts val="2100"/>
              </a:lnSpc>
              <a:buNone/>
            </a:pPr>
            <a:r>
              <a:rPr lang="en-US" sz="1500" dirty="0">
                <a:solidFill>
                  <a:srgbClr val="494949"/>
                </a:solidFill>
                <a:latin typeface="Red Hat Text" pitchFamily="34" charset="0"/>
                <a:ea typeface="Red Hat Text" pitchFamily="34" charset="-122"/>
                <a:cs typeface="Red Hat Text" pitchFamily="34" charset="-120"/>
              </a:rPr>
              <a:t>[M0 vs M2 vs M4: accuracy, false-positive rate by category, counterfactual gap — from the Colab run]</a:t>
            </a:r>
            <a:endParaRPr lang="en-US" sz="1500" dirty="0"/>
          </a:p>
        </p:txBody>
      </p:sp>
      <p:sp>
        <p:nvSpPr>
          <p:cNvPr id="12" name="Text 9"/>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6"/>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What changed, and why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58" y="1581240"/>
          <a:ext cx="10554804" cy="2253388"/>
        </p:xfrm>
        <a:graphic>
          <a:graphicData uri="http://schemas.openxmlformats.org/drawingml/2006/table">
            <a:tbl>
              <a:tblPr/>
              <a:tblGrid>
                <a:gridCol w="1899865"/>
                <a:gridCol w="2849797"/>
                <a:gridCol w="2849797"/>
                <a:gridCol w="2955345"/>
              </a:tblGrid>
              <a:tr h="358220">
                <a:tc>
                  <a:txBody>
                    <a:bodyPr/>
                    <a:lstStyle/>
                    <a:p>
                      <a:pPr indent="0" marL="0">
                        <a:lnSpc>
                          <a:spcPts val="1820"/>
                        </a:lnSpc>
                        <a:buNone/>
                      </a:pPr>
                      <a:r>
                        <a:rPr lang="en-US" sz="1300" b="1" dirty="0">
                          <a:solidFill>
                            <a:srgbClr val="282728"/>
                          </a:solidFill>
                          <a:latin typeface="Red Hat Text" pitchFamily="34" charset="0"/>
                          <a:ea typeface="Red Hat Text" pitchFamily="34" charset="-122"/>
                          <a:cs typeface="Red Hat Text" pitchFamily="34" charset="-120"/>
                        </a:rPr>
                        <a:t>Topic</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82728"/>
                          </a:solidFill>
                          <a:latin typeface="Red Hat Text" pitchFamily="34" charset="0"/>
                          <a:ea typeface="Red Hat Text" pitchFamily="34" charset="-122"/>
                          <a:cs typeface="Red Hat Text" pitchFamily="34" charset="-120"/>
                        </a:rPr>
                        <a:t>First plan</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82728"/>
                          </a:solidFill>
                          <a:latin typeface="Red Hat Text" pitchFamily="34" charset="0"/>
                          <a:ea typeface="Red Hat Text" pitchFamily="34" charset="-122"/>
                          <a:cs typeface="Red Hat Text" pitchFamily="34" charset="-120"/>
                        </a:rPr>
                        <a:t>Now</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282728"/>
                          </a:solidFill>
                          <a:latin typeface="Red Hat Text" pitchFamily="34" charset="0"/>
                          <a:ea typeface="Red Hat Text" pitchFamily="34" charset="-122"/>
                          <a:cs typeface="Red Hat Text" pitchFamily="34" charset="-120"/>
                        </a:rPr>
                        <a:t>Why</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89364">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Model</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BERT classifier</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Qwen3-4B, small LM</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Instructor feedback; current moderators are small LMs</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9364">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Categories</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Gender + appearance</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Gender + disability</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Stronger evidence; labelled in both datasets</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220">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What is scored</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Text generated from a prompt</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The post itself, vs rewordings</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Isolates the moderator (Yang et al.)</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220">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Mitigation</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none</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M4: counterfactual loss</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282728"/>
                          </a:solidFill>
                          <a:latin typeface="Red Hat Text" pitchFamily="34" charset="0"/>
                          <a:ea typeface="Red Hat Text" pitchFamily="34" charset="-122"/>
                          <a:cs typeface="Red Hat Text" pitchFamily="34" charset="-120"/>
                        </a:rPr>
                        <a:t>Test a fix, not only a diagnosis</a:t>
                      </a:r>
                      <a:endParaRPr lang="en-US" sz="1300" dirty="0">
                        <a:latin typeface="Red Hat Text" charset="0"/>
                        <a:ea typeface="Red Hat Text" charset="0"/>
                        <a:cs typeface="Red Hat Text"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Shape 2"/>
          <p:cNvSpPr/>
          <p:nvPr/>
        </p:nvSpPr>
        <p:spPr>
          <a:xfrm>
            <a:off x="812765" y="4094947"/>
            <a:ext cx="10566443" cy="0"/>
          </a:xfrm>
          <a:prstGeom prst="line">
            <a:avLst/>
          </a:prstGeom>
          <a:noFill/>
          <a:ln w="12700">
            <a:solidFill>
              <a:srgbClr val="DADFE1"/>
            </a:solidFill>
            <a:prstDash val="solid"/>
          </a:ln>
        </p:spPr>
      </p:sp>
      <p:sp>
        <p:nvSpPr>
          <p:cNvPr id="6" name="Text 3"/>
          <p:cNvSpPr/>
          <p:nvPr/>
        </p:nvSpPr>
        <p:spPr>
          <a:xfrm>
            <a:off x="812765" y="4277987"/>
            <a:ext cx="3418513"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94949"/>
                </a:solidFill>
                <a:latin typeface="Red Hat Text" pitchFamily="34" charset="0"/>
                <a:ea typeface="Red Hat Text" pitchFamily="34" charset="-122"/>
                <a:cs typeface="Red Hat Text" pitchFamily="34" charset="-120"/>
              </a:rPr>
              <a:t>Long OCR text:</a:t>
            </a:r>
            <a:r>
              <a:rPr lang="en-US" sz="1300" dirty="0">
                <a:solidFill>
                  <a:srgbClr val="494949"/>
                </a:solidFill>
                <a:latin typeface="Red Hat Text" pitchFamily="34" charset="0"/>
                <a:ea typeface="Red Hat Text" pitchFamily="34" charset="-122"/>
                <a:cs typeface="Red Hat Text" pitchFamily="34" charset="-120"/>
              </a:rPr>
              <a:t> 19% of ToxicCommons posts exceed 512 tokens</a:t>
            </a:r>
            <a:endParaRPr lang="en-US" sz="1300" dirty="0"/>
          </a:p>
        </p:txBody>
      </p:sp>
      <p:sp>
        <p:nvSpPr>
          <p:cNvPr id="7" name="Text 4"/>
          <p:cNvSpPr/>
          <p:nvPr/>
        </p:nvSpPr>
        <p:spPr>
          <a:xfrm>
            <a:off x="4436491" y="4277987"/>
            <a:ext cx="3418560"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94949"/>
                </a:solidFill>
                <a:latin typeface="Red Hat Text" pitchFamily="34" charset="0"/>
                <a:ea typeface="Red Hat Text" pitchFamily="34" charset="-122"/>
                <a:cs typeface="Red Hat Text" pitchFamily="34" charset="-120"/>
              </a:rPr>
              <a:t>Rare disability posts:</a:t>
            </a:r>
            <a:r>
              <a:rPr lang="en-US" sz="1300" dirty="0">
                <a:solidFill>
                  <a:srgbClr val="494949"/>
                </a:solidFill>
                <a:latin typeface="Red Hat Text" pitchFamily="34" charset="0"/>
                <a:ea typeface="Red Hat Text" pitchFamily="34" charset="-122"/>
                <a:cs typeface="Red Hat Text" pitchFamily="34" charset="-120"/>
              </a:rPr>
              <a:t> 1,229 in training</a:t>
            </a:r>
            <a:endParaRPr lang="en-US" sz="1300" dirty="0"/>
          </a:p>
        </p:txBody>
      </p:sp>
      <p:sp>
        <p:nvSpPr>
          <p:cNvPr id="8" name="Text 5"/>
          <p:cNvSpPr/>
          <p:nvPr/>
        </p:nvSpPr>
        <p:spPr>
          <a:xfrm>
            <a:off x="8060262" y="4277987"/>
            <a:ext cx="3418513"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94949"/>
                </a:solidFill>
                <a:latin typeface="Red Hat Text" pitchFamily="34" charset="0"/>
                <a:ea typeface="Red Hat Text" pitchFamily="34" charset="-122"/>
                <a:cs typeface="Red Hat Text" pitchFamily="34" charset="-120"/>
              </a:rPr>
              <a:t>Model-made labels:</a:t>
            </a:r>
            <a:r>
              <a:rPr lang="en-US" sz="1300" dirty="0">
                <a:solidFill>
                  <a:srgbClr val="494949"/>
                </a:solidFill>
                <a:latin typeface="Red Hat Text" pitchFamily="34" charset="0"/>
                <a:ea typeface="Red Hat Text" pitchFamily="34" charset="-122"/>
                <a:cs typeface="Red Hat Text" pitchFamily="34" charset="-120"/>
              </a:rPr>
              <a:t> ToxicCommons, by Llama-3.1-8B</a:t>
            </a:r>
            <a:endParaRPr lang="en-US" sz="1300" dirty="0"/>
          </a:p>
        </p:txBody>
      </p:sp>
      <p:sp>
        <p:nvSpPr>
          <p:cNvPr id="9" name="Text 6"/>
          <p:cNvSpPr/>
          <p:nvPr/>
        </p:nvSpPr>
        <p:spPr>
          <a:xfrm>
            <a:off x="812765" y="6238277"/>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3" cy="76173"/>
          </a:xfrm>
          <a:prstGeom prst="rect">
            <a:avLst/>
          </a:prstGeom>
          <a:solidFill>
            <a:srgbClr val="C5050C"/>
          </a:solidFill>
          <a:ln/>
        </p:spPr>
      </p:sp>
      <p:sp>
        <p:nvSpPr>
          <p:cNvPr id="3" name="Text 1"/>
          <p:cNvSpPr/>
          <p:nvPr>
            <p:ph type="title"/>
          </p:nvPr>
        </p:nvSpPr>
        <p:spPr>
          <a:xfrm>
            <a:off x="812765" y="812763"/>
            <a:ext cx="10883436"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82728"/>
                </a:solidFill>
                <a:latin typeface="Red Hat Display" pitchFamily="34" charset="0"/>
                <a:ea typeface="Red Hat Display" pitchFamily="34" charset="-122"/>
                <a:cs typeface="Red Hat Display" pitchFamily="34" charset="-120"/>
              </a:rPr>
              <a:t>Next steps</a:t>
            </a:r>
            <a:endParaRPr lang="en-US" sz="3600" dirty="0"/>
          </a:p>
        </p:txBody>
      </p:sp>
      <p:sp>
        <p:nvSpPr>
          <p:cNvPr id="4" name="Shape 2"/>
          <p:cNvSpPr/>
          <p:nvPr/>
        </p:nvSpPr>
        <p:spPr>
          <a:xfrm>
            <a:off x="812765" y="1626809"/>
            <a:ext cx="5080019" cy="0"/>
          </a:xfrm>
          <a:prstGeom prst="line">
            <a:avLst/>
          </a:prstGeom>
          <a:noFill/>
          <a:ln w="12700">
            <a:solidFill>
              <a:srgbClr val="DADFE1"/>
            </a:solidFill>
            <a:prstDash val="solid"/>
          </a:ln>
        </p:spPr>
      </p:sp>
      <p:sp>
        <p:nvSpPr>
          <p:cNvPr id="5" name="Text 3"/>
          <p:cNvSpPr/>
          <p:nvPr/>
        </p:nvSpPr>
        <p:spPr>
          <a:xfrm>
            <a:off x="812765" y="1784443"/>
            <a:ext cx="5232419"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5050C"/>
                </a:solidFill>
                <a:latin typeface="Red Hat Text" pitchFamily="34" charset="0"/>
                <a:ea typeface="Red Hat Text" pitchFamily="34" charset="-122"/>
                <a:cs typeface="Red Hat Text" pitchFamily="34" charset="-120"/>
              </a:rPr>
              <a:t>1 · THIS WEEK</a:t>
            </a:r>
            <a:endParaRPr lang="en-US" sz="1300" dirty="0"/>
          </a:p>
        </p:txBody>
      </p:sp>
      <p:sp>
        <p:nvSpPr>
          <p:cNvPr id="6" name="Text 4"/>
          <p:cNvSpPr/>
          <p:nvPr/>
        </p:nvSpPr>
        <p:spPr>
          <a:xfrm>
            <a:off x="812765" y="2066354"/>
            <a:ext cx="5232419" cy="29970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282728"/>
                </a:solidFill>
                <a:latin typeface="Red Hat Text" pitchFamily="34" charset="0"/>
                <a:ea typeface="Red Hat Text" pitchFamily="34" charset="-122"/>
                <a:cs typeface="Red Hat Text" pitchFamily="34" charset="-120"/>
              </a:rPr>
              <a:t>Train M2 and M4 on Colab (~25 compute units)</a:t>
            </a:r>
            <a:endParaRPr lang="en-US" sz="1600" dirty="0"/>
          </a:p>
        </p:txBody>
      </p:sp>
      <p:sp>
        <p:nvSpPr>
          <p:cNvPr id="7" name="Shape 5"/>
          <p:cNvSpPr/>
          <p:nvPr/>
        </p:nvSpPr>
        <p:spPr>
          <a:xfrm>
            <a:off x="6299143" y="1626809"/>
            <a:ext cx="5080064" cy="0"/>
          </a:xfrm>
          <a:prstGeom prst="line">
            <a:avLst/>
          </a:prstGeom>
          <a:noFill/>
          <a:ln w="12700">
            <a:solidFill>
              <a:srgbClr val="DADFE1"/>
            </a:solidFill>
            <a:prstDash val="solid"/>
          </a:ln>
        </p:spPr>
      </p:sp>
      <p:sp>
        <p:nvSpPr>
          <p:cNvPr id="8" name="Text 6"/>
          <p:cNvSpPr/>
          <p:nvPr/>
        </p:nvSpPr>
        <p:spPr>
          <a:xfrm>
            <a:off x="6299143" y="1784443"/>
            <a:ext cx="5232466"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5050C"/>
                </a:solidFill>
                <a:latin typeface="Red Hat Text" pitchFamily="34" charset="0"/>
                <a:ea typeface="Red Hat Text" pitchFamily="34" charset="-122"/>
                <a:cs typeface="Red Hat Text" pitchFamily="34" charset="-120"/>
              </a:rPr>
              <a:t>2 · IN PARALLEL</a:t>
            </a:r>
            <a:endParaRPr lang="en-US" sz="1300" dirty="0"/>
          </a:p>
        </p:txBody>
      </p:sp>
      <p:sp>
        <p:nvSpPr>
          <p:cNvPr id="9" name="Text 7"/>
          <p:cNvSpPr/>
          <p:nvPr/>
        </p:nvSpPr>
        <p:spPr>
          <a:xfrm>
            <a:off x="6299143" y="2066354"/>
            <a:ext cx="5232466" cy="574006"/>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282728"/>
                </a:solidFill>
                <a:latin typeface="Red Hat Text" pitchFamily="34" charset="0"/>
                <a:ea typeface="Red Hat Text" pitchFamily="34" charset="-122"/>
                <a:cs typeface="Red Hat Text" pitchFamily="34" charset="-120"/>
              </a:rPr>
              <a:t>Review the 300 tagged posts; report human–human and human–Gemini agreement</a:t>
            </a:r>
            <a:endParaRPr lang="en-US" sz="1600" dirty="0"/>
          </a:p>
        </p:txBody>
      </p:sp>
      <p:sp>
        <p:nvSpPr>
          <p:cNvPr id="10" name="Shape 8"/>
          <p:cNvSpPr/>
          <p:nvPr/>
        </p:nvSpPr>
        <p:spPr>
          <a:xfrm>
            <a:off x="812765" y="2875279"/>
            <a:ext cx="5080019" cy="0"/>
          </a:xfrm>
          <a:prstGeom prst="line">
            <a:avLst/>
          </a:prstGeom>
          <a:noFill/>
          <a:ln w="12700">
            <a:solidFill>
              <a:srgbClr val="DADFE1"/>
            </a:solidFill>
            <a:prstDash val="solid"/>
          </a:ln>
        </p:spPr>
      </p:sp>
      <p:sp>
        <p:nvSpPr>
          <p:cNvPr id="11" name="Text 9"/>
          <p:cNvSpPr/>
          <p:nvPr/>
        </p:nvSpPr>
        <p:spPr>
          <a:xfrm>
            <a:off x="812765" y="3032913"/>
            <a:ext cx="5232419"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5050C"/>
                </a:solidFill>
                <a:latin typeface="Red Hat Text" pitchFamily="34" charset="0"/>
                <a:ea typeface="Red Hat Text" pitchFamily="34" charset="-122"/>
                <a:cs typeface="Red Hat Text" pitchFamily="34" charset="-120"/>
              </a:rPr>
              <a:t>3 · THEN</a:t>
            </a:r>
            <a:endParaRPr lang="en-US" sz="1300" dirty="0"/>
          </a:p>
        </p:txBody>
      </p:sp>
      <p:sp>
        <p:nvSpPr>
          <p:cNvPr id="12" name="Text 10"/>
          <p:cNvSpPr/>
          <p:nvPr/>
        </p:nvSpPr>
        <p:spPr>
          <a:xfrm>
            <a:off x="812765" y="3314824"/>
            <a:ext cx="5232419" cy="574006"/>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282728"/>
                </a:solidFill>
                <a:latin typeface="Red Hat Text" pitchFamily="34" charset="0"/>
                <a:ea typeface="Red Hat Text" pitchFamily="34" charset="-122"/>
                <a:cs typeface="Red Hat Text" pitchFamily="34" charset="-120"/>
              </a:rPr>
              <a:t>Bias test M0–M4 on both categories: Δ, direction, pairwise comparisons</a:t>
            </a:r>
            <a:endParaRPr lang="en-US" sz="1600" dirty="0"/>
          </a:p>
        </p:txBody>
      </p:sp>
      <p:sp>
        <p:nvSpPr>
          <p:cNvPr id="13" name="Shape 11"/>
          <p:cNvSpPr/>
          <p:nvPr/>
        </p:nvSpPr>
        <p:spPr>
          <a:xfrm>
            <a:off x="6299143" y="2875279"/>
            <a:ext cx="5080064" cy="0"/>
          </a:xfrm>
          <a:prstGeom prst="line">
            <a:avLst/>
          </a:prstGeom>
          <a:noFill/>
          <a:ln w="12700">
            <a:solidFill>
              <a:srgbClr val="DADFE1"/>
            </a:solidFill>
            <a:prstDash val="solid"/>
          </a:ln>
        </p:spPr>
      </p:sp>
      <p:sp>
        <p:nvSpPr>
          <p:cNvPr id="14" name="Text 12"/>
          <p:cNvSpPr/>
          <p:nvPr/>
        </p:nvSpPr>
        <p:spPr>
          <a:xfrm>
            <a:off x="6299143" y="3032913"/>
            <a:ext cx="5232466" cy="256545"/>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5050C"/>
                </a:solidFill>
                <a:latin typeface="Red Hat Text" pitchFamily="34" charset="0"/>
                <a:ea typeface="Red Hat Text" pitchFamily="34" charset="-122"/>
                <a:cs typeface="Red Hat Text" pitchFamily="34" charset="-120"/>
              </a:rPr>
              <a:t>4 · FINAL REPORT</a:t>
            </a:r>
            <a:endParaRPr lang="en-US" sz="1300" dirty="0"/>
          </a:p>
        </p:txBody>
      </p:sp>
      <p:sp>
        <p:nvSpPr>
          <p:cNvPr id="15" name="Text 13"/>
          <p:cNvSpPr/>
          <p:nvPr/>
        </p:nvSpPr>
        <p:spPr>
          <a:xfrm>
            <a:off x="6299143" y="3314824"/>
            <a:ext cx="5232466" cy="574006"/>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282728"/>
                </a:solidFill>
                <a:latin typeface="Red Hat Text" pitchFamily="34" charset="0"/>
                <a:ea typeface="Red Hat Text" pitchFamily="34" charset="-122"/>
                <a:cs typeface="Red Hat Text" pitchFamily="34" charset="-120"/>
              </a:rPr>
              <a:t>Release M2 and M4 on Hugging Face; figures with one-sentence takeaways</a:t>
            </a:r>
            <a:endParaRPr lang="en-US" sz="1600" dirty="0"/>
          </a:p>
        </p:txBody>
      </p:sp>
      <p:sp>
        <p:nvSpPr>
          <p:cNvPr id="16" name="Text 14"/>
          <p:cNvSpPr/>
          <p:nvPr/>
        </p:nvSpPr>
        <p:spPr>
          <a:xfrm>
            <a:off x="812765" y="4168211"/>
            <a:ext cx="10883436" cy="416589"/>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82728"/>
                </a:solidFill>
                <a:latin typeface="Red Hat Display" pitchFamily="34" charset="0"/>
                <a:ea typeface="Red Hat Display" pitchFamily="34" charset="-122"/>
                <a:cs typeface="Red Hat Display" pitchFamily="34" charset="-120"/>
              </a:rPr>
              <a:t>Thank you — questions?</a:t>
            </a:r>
            <a:endParaRPr lang="en-US" sz="2200" dirty="0"/>
          </a:p>
        </p:txBody>
      </p:sp>
      <p:sp>
        <p:nvSpPr>
          <p:cNvPr id="17" name="Text 15"/>
          <p:cNvSpPr/>
          <p:nvPr/>
        </p:nvSpPr>
        <p:spPr>
          <a:xfrm>
            <a:off x="812765" y="6238280"/>
            <a:ext cx="10883390" cy="2387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569"/>
                </a:solidFill>
                <a:latin typeface="Red Hat Text" pitchFamily="34" charset="0"/>
                <a:ea typeface="Red Hat Text" pitchFamily="34" charset="-122"/>
                <a:cs typeface="Red Hat Text" pitchFamily="34" charset="-120"/>
              </a:rPr>
              <a:t>CS 769 · UW–Madison · 9</a:t>
            </a:r>
            <a:endParaRPr lang="en-US" sz="1200" dirty="0"/>
          </a:p>
        </p:txBody>
      </p:sp>
    </p:spTree>
  </p:cSld>
  <p:clrMapOvr>
    <a:masterClrMapping/>
  </p:clrMapOvr>
</p:sld>
</file>

<file path=ppt/theme/theme1.xml><?xml version="1.0" encoding="utf-8"?>
<a:theme xmlns:a="http://schemas.openxmlformats.org/drawingml/2006/main" name="Same Post, Different Verdict? — KQV Midterm">
  <a:themeElements>
    <a:clrScheme name="Same Post, Different Verdict? — KQV Midterm">
      <a:dk1>
        <a:srgbClr val="282728"/>
      </a:dk1>
      <a:lt1>
        <a:srgbClr val="FFFFFF"/>
      </a:lt1>
      <a:dk2>
        <a:srgbClr val="5E5D5E"/>
      </a:dk2>
      <a:lt2>
        <a:srgbClr val="EAE9EA"/>
      </a:lt2>
      <a:accent1>
        <a:srgbClr val="C5050C"/>
      </a:accent1>
      <a:accent2>
        <a:srgbClr val="0479A8"/>
      </a:accent2>
      <a:accent3>
        <a:srgbClr val="494949"/>
      </a:accent3>
      <a:accent4>
        <a:srgbClr val="646569"/>
      </a:accent4>
      <a:accent5>
        <a:srgbClr val="9AA0A6"/>
      </a:accent5>
      <a:accent6>
        <a:srgbClr val="7E7D7E"/>
      </a:accent6>
      <a:hlink>
        <a:srgbClr val="0563C1"/>
      </a:hlink>
      <a:folHlink>
        <a:srgbClr val="954F72"/>
      </a:folHlink>
    </a:clrScheme>
    <a:fontScheme name="Same Post, Different Verdict? — KQV Midterm">
      <a:majorFont>
        <a:latin typeface="Red Hat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ed Hat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Post, Different Verdict? — KQV Midterm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Red Hat Text
Copyright 2024 The Red Hat Project Authors (https://github.com/RedHatOfficial/RedHatFont)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Red Hat Display
Copyright 2024 The Red Hat Project Authors (https://github.com/RedHatOfficial/RedHatFont)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2026-10-25T15:25:29Z</dcterms:created>
  <dcterms:modified xsi:type="dcterms:W3CDTF">2026-10-25T15:25:29Z</dcterms:modified>
</cp:coreProperties>
</file>